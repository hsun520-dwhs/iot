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2"/>
  </p:notesMasterIdLst>
  <p:sldIdLst>
    <p:sldId id="256" r:id="rId3"/>
    <p:sldId id="960" r:id="rId4"/>
    <p:sldId id="962" r:id="rId5"/>
    <p:sldId id="964" r:id="rId6"/>
    <p:sldId id="965" r:id="rId7"/>
    <p:sldId id="963" r:id="rId8"/>
    <p:sldId id="967" r:id="rId9"/>
    <p:sldId id="968" r:id="rId10"/>
    <p:sldId id="969" r:id="rId11"/>
  </p:sldIdLst>
  <p:sldSz cx="9144000" cy="6858000" type="screen4x3"/>
  <p:notesSz cx="6858000" cy="9144000"/>
  <p:embeddedFontLst>
    <p:embeddedFont>
      <p:font typeface="Garamond" panose="02020404030301010803" pitchFamily="18" charset="0"/>
      <p:regular r:id="rId13"/>
      <p:bold r:id="rId14"/>
      <p:italic r:id="rId15"/>
      <p:boldItalic r:id="rId16"/>
    </p:embeddedFont>
    <p:embeddedFont>
      <p:font typeface="Gulim" panose="020B0600000101010101" pitchFamily="34" charset="-127"/>
      <p:regular r:id="rId17"/>
    </p:embeddedFont>
    <p:embeddedFont>
      <p:font typeface="標楷體" panose="03000509000000000000" pitchFamily="65" charset="-120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hG0zehIhj14b25bYaFsylW1mYZM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0" clrIdx="0">
    <p:extLst>
      <p:ext uri="{19B8F6BF-5375-455C-9EA6-DF929625EA0E}">
        <p15:presenceInfo xmlns:p15="http://schemas.microsoft.com/office/powerpoint/2012/main" userId="9b2758226f20e06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1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4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40" Type="http://customschemas.google.com/relationships/presentationmetadata" Target="metadata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10" Type="http://schemas.openxmlformats.org/officeDocument/2006/relationships/slide" Target="slides/slide8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4"/>
          <p:cNvSpPr txBox="1">
            <a:spLocks noGrp="1"/>
          </p:cNvSpPr>
          <p:nvPr>
            <p:ph type="ctrTitle"/>
          </p:nvPr>
        </p:nvSpPr>
        <p:spPr>
          <a:xfrm>
            <a:off x="600364" y="1124530"/>
            <a:ext cx="7400636" cy="117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>
                <a:solidFill>
                  <a:srgbClr val="FFFF00"/>
                </a:solidFill>
                <a:latin typeface="DFKai-SB"/>
                <a:ea typeface="DFKai-SB"/>
                <a:cs typeface="DFKai-SB"/>
                <a:sym typeface="DFKai-S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4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0"/>
              <a:buNone/>
              <a:defRPr sz="3200">
                <a:solidFill>
                  <a:srgbClr val="00B050"/>
                </a:solidFill>
                <a:latin typeface="DFKai-SB"/>
                <a:ea typeface="DFKai-SB"/>
                <a:cs typeface="DFKai-SB"/>
                <a:sym typeface="DFKai-SB"/>
              </a:defRPr>
            </a:lvl1pPr>
            <a:lvl2pPr lvl="1" algn="ct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56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43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57" name="Google Shape;57;p22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224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224"/>
          <p:cNvSpPr txBox="1">
            <a:spLocks noGrp="1"/>
          </p:cNvSpPr>
          <p:nvPr>
            <p:ph type="sldNum" idx="12"/>
          </p:nvPr>
        </p:nvSpPr>
        <p:spPr>
          <a:xfrm>
            <a:off x="2644775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6"/>
          <p:cNvSpPr txBox="1">
            <a:spLocks noGrp="1"/>
          </p:cNvSpPr>
          <p:nvPr>
            <p:ph type="title"/>
          </p:nvPr>
        </p:nvSpPr>
        <p:spPr>
          <a:xfrm>
            <a:off x="393700" y="144462"/>
            <a:ext cx="5762625" cy="88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DFKai-SB"/>
                <a:ea typeface="DFKai-SB"/>
                <a:cs typeface="DFKai-SB"/>
                <a:sym typeface="DFKai-S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600"/>
              </a:buClr>
              <a:buSzPts val="1800"/>
              <a:buChar char="•"/>
              <a:defRPr>
                <a:latin typeface="DFKai-SB"/>
                <a:ea typeface="DFKai-SB"/>
                <a:cs typeface="DFKai-SB"/>
                <a:sym typeface="DFKai-SB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>
                <a:latin typeface="Arial"/>
                <a:ea typeface="Arial"/>
                <a:cs typeface="Arial"/>
                <a:sym typeface="Arial"/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>
                <a:latin typeface="Arial"/>
                <a:ea typeface="Arial"/>
                <a:cs typeface="Arial"/>
                <a:sym typeface="Arial"/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66"/>
          <p:cNvSpPr txBox="1">
            <a:spLocks noGrp="1"/>
          </p:cNvSpPr>
          <p:nvPr>
            <p:ph type="sldNum" idx="12"/>
          </p:nvPr>
        </p:nvSpPr>
        <p:spPr>
          <a:xfrm>
            <a:off x="2654300" y="65246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0C0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63" descr="biz14_brow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63" descr="좁은 수평선"/>
          <p:cNvSpPr txBox="1"/>
          <p:nvPr/>
        </p:nvSpPr>
        <p:spPr>
          <a:xfrm>
            <a:off x="0" y="2133600"/>
            <a:ext cx="9144000" cy="431800"/>
          </a:xfrm>
          <a:prstGeom prst="rect">
            <a:avLst/>
          </a:prstGeom>
          <a:solidFill>
            <a:srgbClr val="FFFFFF">
              <a:alpha val="1921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oogle Shape;12;p163"/>
          <p:cNvGrpSpPr/>
          <p:nvPr/>
        </p:nvGrpSpPr>
        <p:grpSpPr>
          <a:xfrm>
            <a:off x="6469062" y="188912"/>
            <a:ext cx="2674937" cy="2695575"/>
            <a:chOff x="-31" y="663"/>
            <a:chExt cx="3222" cy="2997"/>
          </a:xfrm>
        </p:grpSpPr>
        <p:sp>
          <p:nvSpPr>
            <p:cNvPr id="13" name="Google Shape;13;p163"/>
            <p:cNvSpPr/>
            <p:nvPr/>
          </p:nvSpPr>
          <p:spPr>
            <a:xfrm>
              <a:off x="-31" y="1083"/>
              <a:ext cx="1818" cy="2577"/>
            </a:xfrm>
            <a:custGeom>
              <a:avLst/>
              <a:gdLst/>
              <a:ahLst/>
              <a:cxnLst/>
              <a:rect l="l" t="t" r="r" b="b"/>
              <a:pathLst>
                <a:path w="1818" h="2577" extrusionOk="0">
                  <a:moveTo>
                    <a:pt x="37" y="83"/>
                  </a:moveTo>
                  <a:cubicBezTo>
                    <a:pt x="0" y="102"/>
                    <a:pt x="108" y="1122"/>
                    <a:pt x="252" y="1488"/>
                  </a:cubicBezTo>
                  <a:cubicBezTo>
                    <a:pt x="309" y="1573"/>
                    <a:pt x="522" y="2400"/>
                    <a:pt x="1760" y="2577"/>
                  </a:cubicBezTo>
                  <a:cubicBezTo>
                    <a:pt x="1818" y="816"/>
                    <a:pt x="1125" y="400"/>
                    <a:pt x="1125" y="400"/>
                  </a:cubicBezTo>
                  <a:cubicBezTo>
                    <a:pt x="588" y="0"/>
                    <a:pt x="37" y="83"/>
                    <a:pt x="37" y="83"/>
                  </a:cubicBezTo>
                  <a:close/>
                </a:path>
              </a:pathLst>
            </a:custGeom>
            <a:solidFill>
              <a:srgbClr val="FFFFFF">
                <a:alpha val="2941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63"/>
            <p:cNvSpPr/>
            <p:nvPr/>
          </p:nvSpPr>
          <p:spPr>
            <a:xfrm>
              <a:off x="1487" y="663"/>
              <a:ext cx="1704" cy="2543"/>
            </a:xfrm>
            <a:custGeom>
              <a:avLst/>
              <a:gdLst/>
              <a:ahLst/>
              <a:cxnLst/>
              <a:rect l="l" t="t" r="r" b="b"/>
              <a:pathLst>
                <a:path w="1704" h="2544" extrusionOk="0">
                  <a:moveTo>
                    <a:pt x="1649" y="49"/>
                  </a:moveTo>
                  <a:cubicBezTo>
                    <a:pt x="1649" y="49"/>
                    <a:pt x="1704" y="846"/>
                    <a:pt x="1331" y="1682"/>
                  </a:cubicBezTo>
                  <a:cubicBezTo>
                    <a:pt x="936" y="2460"/>
                    <a:pt x="242" y="2544"/>
                    <a:pt x="242" y="2544"/>
                  </a:cubicBezTo>
                  <a:cubicBezTo>
                    <a:pt x="162" y="1494"/>
                    <a:pt x="6" y="1482"/>
                    <a:pt x="0" y="1362"/>
                  </a:cubicBezTo>
                  <a:cubicBezTo>
                    <a:pt x="120" y="924"/>
                    <a:pt x="312" y="618"/>
                    <a:pt x="424" y="503"/>
                  </a:cubicBezTo>
                  <a:cubicBezTo>
                    <a:pt x="1008" y="0"/>
                    <a:pt x="1649" y="49"/>
                    <a:pt x="1649" y="49"/>
                  </a:cubicBezTo>
                  <a:close/>
                </a:path>
              </a:pathLst>
            </a:custGeom>
            <a:solidFill>
              <a:srgbClr val="FFFFFF">
                <a:alpha val="1921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" name="Google Shape;15;p163"/>
          <p:cNvCxnSpPr/>
          <p:nvPr/>
        </p:nvCxnSpPr>
        <p:spPr>
          <a:xfrm>
            <a:off x="4970462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49411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16;p163"/>
          <p:cNvSpPr/>
          <p:nvPr/>
        </p:nvSpPr>
        <p:spPr>
          <a:xfrm>
            <a:off x="1049337" y="0"/>
            <a:ext cx="3656012" cy="6854825"/>
          </a:xfrm>
          <a:custGeom>
            <a:avLst/>
            <a:gdLst/>
            <a:ahLst/>
            <a:cxnLst/>
            <a:rect l="l" t="t" r="r" b="b"/>
            <a:pathLst>
              <a:path w="21600" h="37386" fill="none" extrusionOk="0">
                <a:moveTo>
                  <a:pt x="20070" y="37385"/>
                </a:moveTo>
                <a:cubicBezTo>
                  <a:pt x="8762" y="36582"/>
                  <a:pt x="0" y="27175"/>
                  <a:pt x="0" y="15840"/>
                </a:cubicBezTo>
                <a:cubicBezTo>
                  <a:pt x="-1" y="9827"/>
                  <a:pt x="2505" y="4087"/>
                  <a:pt x="6914" y="-1"/>
                </a:cubicBezTo>
              </a:path>
              <a:path w="21600" h="37386" extrusionOk="0">
                <a:moveTo>
                  <a:pt x="20070" y="37385"/>
                </a:moveTo>
                <a:cubicBezTo>
                  <a:pt x="8762" y="36582"/>
                  <a:pt x="0" y="27175"/>
                  <a:pt x="0" y="15840"/>
                </a:cubicBezTo>
                <a:cubicBezTo>
                  <a:pt x="-1" y="9827"/>
                  <a:pt x="2505" y="4087"/>
                  <a:pt x="6914" y="-1"/>
                </a:cubicBezTo>
                <a:lnTo>
                  <a:pt x="21600" y="15840"/>
                </a:lnTo>
                <a:lnTo>
                  <a:pt x="20070" y="37385"/>
                </a:lnTo>
                <a:close/>
              </a:path>
            </a:pathLst>
          </a:custGeom>
          <a:noFill/>
          <a:ln w="9525" cap="flat" cmpd="sng">
            <a:solidFill>
              <a:srgbClr val="FFFFFF">
                <a:alpha val="4941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oogle Shape;17;p163"/>
          <p:cNvGrpSpPr/>
          <p:nvPr/>
        </p:nvGrpSpPr>
        <p:grpSpPr>
          <a:xfrm>
            <a:off x="252412" y="3068637"/>
            <a:ext cx="4613275" cy="495300"/>
            <a:chOff x="172" y="1752"/>
            <a:chExt cx="3148" cy="312"/>
          </a:xfrm>
        </p:grpSpPr>
        <p:sp>
          <p:nvSpPr>
            <p:cNvPr id="18" name="Google Shape;18;p163"/>
            <p:cNvSpPr/>
            <p:nvPr/>
          </p:nvSpPr>
          <p:spPr>
            <a:xfrm>
              <a:off x="172" y="1932"/>
              <a:ext cx="132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63"/>
            <p:cNvSpPr/>
            <p:nvPr/>
          </p:nvSpPr>
          <p:spPr>
            <a:xfrm>
              <a:off x="338" y="1932"/>
              <a:ext cx="132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63"/>
            <p:cNvSpPr/>
            <p:nvPr/>
          </p:nvSpPr>
          <p:spPr>
            <a:xfrm>
              <a:off x="528" y="1932"/>
              <a:ext cx="131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63"/>
            <p:cNvSpPr/>
            <p:nvPr/>
          </p:nvSpPr>
          <p:spPr>
            <a:xfrm>
              <a:off x="718" y="1932"/>
              <a:ext cx="132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63"/>
            <p:cNvSpPr/>
            <p:nvPr/>
          </p:nvSpPr>
          <p:spPr>
            <a:xfrm>
              <a:off x="908" y="1932"/>
              <a:ext cx="132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63"/>
            <p:cNvSpPr/>
            <p:nvPr/>
          </p:nvSpPr>
          <p:spPr>
            <a:xfrm>
              <a:off x="1098" y="1932"/>
              <a:ext cx="132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63"/>
            <p:cNvSpPr/>
            <p:nvPr/>
          </p:nvSpPr>
          <p:spPr>
            <a:xfrm>
              <a:off x="1288" y="1932"/>
              <a:ext cx="132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63"/>
            <p:cNvSpPr/>
            <p:nvPr/>
          </p:nvSpPr>
          <p:spPr>
            <a:xfrm>
              <a:off x="1478" y="1932"/>
              <a:ext cx="131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63"/>
            <p:cNvSpPr/>
            <p:nvPr/>
          </p:nvSpPr>
          <p:spPr>
            <a:xfrm>
              <a:off x="1668" y="1932"/>
              <a:ext cx="132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63"/>
            <p:cNvSpPr/>
            <p:nvPr/>
          </p:nvSpPr>
          <p:spPr>
            <a:xfrm>
              <a:off x="1858" y="1932"/>
              <a:ext cx="132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63"/>
            <p:cNvSpPr/>
            <p:nvPr/>
          </p:nvSpPr>
          <p:spPr>
            <a:xfrm>
              <a:off x="2048" y="1932"/>
              <a:ext cx="132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63"/>
            <p:cNvSpPr/>
            <p:nvPr/>
          </p:nvSpPr>
          <p:spPr>
            <a:xfrm>
              <a:off x="2238" y="1932"/>
              <a:ext cx="132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63"/>
            <p:cNvSpPr/>
            <p:nvPr/>
          </p:nvSpPr>
          <p:spPr>
            <a:xfrm>
              <a:off x="2428" y="1932"/>
              <a:ext cx="131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63"/>
            <p:cNvSpPr/>
            <p:nvPr/>
          </p:nvSpPr>
          <p:spPr>
            <a:xfrm>
              <a:off x="2618" y="1932"/>
              <a:ext cx="132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63"/>
            <p:cNvSpPr/>
            <p:nvPr/>
          </p:nvSpPr>
          <p:spPr>
            <a:xfrm>
              <a:off x="2808" y="1932"/>
              <a:ext cx="132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63"/>
            <p:cNvSpPr/>
            <p:nvPr/>
          </p:nvSpPr>
          <p:spPr>
            <a:xfrm>
              <a:off x="2998" y="1932"/>
              <a:ext cx="132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63"/>
            <p:cNvSpPr/>
            <p:nvPr/>
          </p:nvSpPr>
          <p:spPr>
            <a:xfrm>
              <a:off x="3188" y="1932"/>
              <a:ext cx="132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63"/>
            <p:cNvSpPr/>
            <p:nvPr/>
          </p:nvSpPr>
          <p:spPr>
            <a:xfrm>
              <a:off x="718" y="1752"/>
              <a:ext cx="132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63"/>
            <p:cNvSpPr/>
            <p:nvPr/>
          </p:nvSpPr>
          <p:spPr>
            <a:xfrm>
              <a:off x="908" y="1752"/>
              <a:ext cx="132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63"/>
            <p:cNvSpPr/>
            <p:nvPr/>
          </p:nvSpPr>
          <p:spPr>
            <a:xfrm>
              <a:off x="1098" y="1752"/>
              <a:ext cx="132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63"/>
            <p:cNvSpPr/>
            <p:nvPr/>
          </p:nvSpPr>
          <p:spPr>
            <a:xfrm>
              <a:off x="1288" y="1752"/>
              <a:ext cx="132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63"/>
            <p:cNvSpPr/>
            <p:nvPr/>
          </p:nvSpPr>
          <p:spPr>
            <a:xfrm>
              <a:off x="1478" y="1752"/>
              <a:ext cx="131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63"/>
            <p:cNvSpPr/>
            <p:nvPr/>
          </p:nvSpPr>
          <p:spPr>
            <a:xfrm>
              <a:off x="2426" y="1752"/>
              <a:ext cx="132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63"/>
            <p:cNvSpPr/>
            <p:nvPr/>
          </p:nvSpPr>
          <p:spPr>
            <a:xfrm>
              <a:off x="2616" y="1752"/>
              <a:ext cx="132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63"/>
            <p:cNvSpPr/>
            <p:nvPr/>
          </p:nvSpPr>
          <p:spPr>
            <a:xfrm>
              <a:off x="2807" y="1752"/>
              <a:ext cx="131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63"/>
            <p:cNvSpPr/>
            <p:nvPr/>
          </p:nvSpPr>
          <p:spPr>
            <a:xfrm>
              <a:off x="2996" y="1752"/>
              <a:ext cx="132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63"/>
            <p:cNvSpPr/>
            <p:nvPr/>
          </p:nvSpPr>
          <p:spPr>
            <a:xfrm>
              <a:off x="3186" y="1752"/>
              <a:ext cx="132" cy="1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5" name="Google Shape;45;p163" descr="영문간지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03837" y="333375"/>
            <a:ext cx="2619375" cy="205422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63"/>
          <p:cNvSpPr/>
          <p:nvPr/>
        </p:nvSpPr>
        <p:spPr>
          <a:xfrm>
            <a:off x="582612" y="-53975"/>
            <a:ext cx="4502150" cy="6911975"/>
          </a:xfrm>
          <a:custGeom>
            <a:avLst/>
            <a:gdLst/>
            <a:ahLst/>
            <a:cxnLst/>
            <a:rect l="l" t="t" r="r" b="b"/>
            <a:pathLst>
              <a:path w="1818" h="2577" extrusionOk="0">
                <a:moveTo>
                  <a:pt x="37" y="83"/>
                </a:moveTo>
                <a:cubicBezTo>
                  <a:pt x="0" y="102"/>
                  <a:pt x="108" y="1122"/>
                  <a:pt x="252" y="1488"/>
                </a:cubicBezTo>
                <a:cubicBezTo>
                  <a:pt x="309" y="1573"/>
                  <a:pt x="522" y="2400"/>
                  <a:pt x="1760" y="2577"/>
                </a:cubicBezTo>
                <a:cubicBezTo>
                  <a:pt x="1818" y="816"/>
                  <a:pt x="1125" y="400"/>
                  <a:pt x="1125" y="400"/>
                </a:cubicBezTo>
                <a:cubicBezTo>
                  <a:pt x="588" y="0"/>
                  <a:pt x="37" y="83"/>
                  <a:pt x="37" y="83"/>
                </a:cubicBezTo>
                <a:close/>
              </a:path>
            </a:pathLst>
          </a:custGeom>
          <a:noFill/>
          <a:ln w="9525" cap="flat" cmpd="sng">
            <a:solidFill>
              <a:srgbClr val="FFFFFF">
                <a:alpha val="2941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163" descr="B30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19475" y="-26987"/>
            <a:ext cx="1762125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163" descr="B25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92275" y="-26987"/>
            <a:ext cx="1727200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63" descr="B27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-26987"/>
            <a:ext cx="1692275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63"/>
          <p:cNvSpPr txBox="1"/>
          <p:nvPr/>
        </p:nvSpPr>
        <p:spPr>
          <a:xfrm>
            <a:off x="0" y="1557337"/>
            <a:ext cx="9144000" cy="863600"/>
          </a:xfrm>
          <a:prstGeom prst="rect">
            <a:avLst/>
          </a:prstGeom>
          <a:solidFill>
            <a:srgbClr val="111111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63"/>
          <p:cNvSpPr txBox="1">
            <a:spLocks noGrp="1"/>
          </p:cNvSpPr>
          <p:nvPr>
            <p:ph type="title"/>
          </p:nvPr>
        </p:nvSpPr>
        <p:spPr>
          <a:xfrm>
            <a:off x="349132" y="1616869"/>
            <a:ext cx="8229600" cy="64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52" name="Google Shape;52;p163"/>
          <p:cNvSpPr txBox="1">
            <a:spLocks noGrp="1"/>
          </p:cNvSpPr>
          <p:nvPr>
            <p:ph type="body" idx="1"/>
          </p:nvPr>
        </p:nvSpPr>
        <p:spPr>
          <a:xfrm>
            <a:off x="457200" y="3789362"/>
            <a:ext cx="8229600" cy="23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24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"/>
              <a:buChar char="■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766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"/>
              <a:buChar char="❑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40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"/>
              <a:buChar char="■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"/>
              <a:buChar char="❑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63"/>
          <p:cNvSpPr txBox="1">
            <a:spLocks noGrp="1"/>
          </p:cNvSpPr>
          <p:nvPr>
            <p:ph type="sldNum" idx="12"/>
          </p:nvPr>
        </p:nvSpPr>
        <p:spPr>
          <a:xfrm>
            <a:off x="2644775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ransition spd="med">
    <p:random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65" descr="biz14_brow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9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65"/>
          <p:cNvSpPr txBox="1"/>
          <p:nvPr/>
        </p:nvSpPr>
        <p:spPr>
          <a:xfrm>
            <a:off x="0" y="765175"/>
            <a:ext cx="9144000" cy="503237"/>
          </a:xfrm>
          <a:prstGeom prst="rect">
            <a:avLst/>
          </a:prstGeom>
          <a:solidFill>
            <a:srgbClr val="111111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65" descr="좁은 수평선"/>
          <p:cNvSpPr txBox="1"/>
          <p:nvPr/>
        </p:nvSpPr>
        <p:spPr>
          <a:xfrm>
            <a:off x="0" y="981075"/>
            <a:ext cx="9144000" cy="431800"/>
          </a:xfrm>
          <a:prstGeom prst="rect">
            <a:avLst/>
          </a:prstGeom>
          <a:solidFill>
            <a:srgbClr val="FFFFFF">
              <a:alpha val="1921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65" descr="영문간지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7387" y="0"/>
            <a:ext cx="1622425" cy="12715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" name="Google Shape;65;p165"/>
          <p:cNvCxnSpPr/>
          <p:nvPr/>
        </p:nvCxnSpPr>
        <p:spPr>
          <a:xfrm>
            <a:off x="0" y="841375"/>
            <a:ext cx="9144000" cy="0"/>
          </a:xfrm>
          <a:prstGeom prst="straightConnector1">
            <a:avLst/>
          </a:prstGeom>
          <a:noFill/>
          <a:ln w="12700" cap="flat" cmpd="sng">
            <a:solidFill>
              <a:srgbClr val="99CC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6" name="Google Shape;66;p165"/>
          <p:cNvSpPr txBox="1"/>
          <p:nvPr/>
        </p:nvSpPr>
        <p:spPr>
          <a:xfrm>
            <a:off x="0" y="6381750"/>
            <a:ext cx="9144000" cy="476250"/>
          </a:xfrm>
          <a:prstGeom prst="rect">
            <a:avLst/>
          </a:prstGeom>
          <a:gradFill>
            <a:gsLst>
              <a:gs pos="0">
                <a:srgbClr val="B2B2B2"/>
              </a:gs>
              <a:gs pos="100000">
                <a:srgbClr val="525252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165"/>
          <p:cNvGrpSpPr/>
          <p:nvPr/>
        </p:nvGrpSpPr>
        <p:grpSpPr>
          <a:xfrm>
            <a:off x="7696200" y="0"/>
            <a:ext cx="1247775" cy="1257300"/>
            <a:chOff x="-31" y="663"/>
            <a:chExt cx="3222" cy="2997"/>
          </a:xfrm>
        </p:grpSpPr>
        <p:sp>
          <p:nvSpPr>
            <p:cNvPr id="68" name="Google Shape;68;p165"/>
            <p:cNvSpPr/>
            <p:nvPr/>
          </p:nvSpPr>
          <p:spPr>
            <a:xfrm>
              <a:off x="-31" y="1083"/>
              <a:ext cx="1816" cy="2577"/>
            </a:xfrm>
            <a:custGeom>
              <a:avLst/>
              <a:gdLst/>
              <a:ahLst/>
              <a:cxnLst/>
              <a:rect l="l" t="t" r="r" b="b"/>
              <a:pathLst>
                <a:path w="1818" h="2577" extrusionOk="0">
                  <a:moveTo>
                    <a:pt x="37" y="83"/>
                  </a:moveTo>
                  <a:cubicBezTo>
                    <a:pt x="0" y="102"/>
                    <a:pt x="108" y="1122"/>
                    <a:pt x="252" y="1488"/>
                  </a:cubicBezTo>
                  <a:cubicBezTo>
                    <a:pt x="309" y="1573"/>
                    <a:pt x="522" y="2400"/>
                    <a:pt x="1760" y="2577"/>
                  </a:cubicBezTo>
                  <a:cubicBezTo>
                    <a:pt x="1818" y="816"/>
                    <a:pt x="1125" y="400"/>
                    <a:pt x="1125" y="400"/>
                  </a:cubicBezTo>
                  <a:cubicBezTo>
                    <a:pt x="588" y="0"/>
                    <a:pt x="37" y="83"/>
                    <a:pt x="37" y="83"/>
                  </a:cubicBezTo>
                  <a:close/>
                </a:path>
              </a:pathLst>
            </a:custGeom>
            <a:solidFill>
              <a:srgbClr val="FFFFFF">
                <a:alpha val="2941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65"/>
            <p:cNvSpPr/>
            <p:nvPr/>
          </p:nvSpPr>
          <p:spPr>
            <a:xfrm>
              <a:off x="1486" y="663"/>
              <a:ext cx="1705" cy="2543"/>
            </a:xfrm>
            <a:custGeom>
              <a:avLst/>
              <a:gdLst/>
              <a:ahLst/>
              <a:cxnLst/>
              <a:rect l="l" t="t" r="r" b="b"/>
              <a:pathLst>
                <a:path w="1704" h="2544" extrusionOk="0">
                  <a:moveTo>
                    <a:pt x="1649" y="49"/>
                  </a:moveTo>
                  <a:cubicBezTo>
                    <a:pt x="1649" y="49"/>
                    <a:pt x="1704" y="846"/>
                    <a:pt x="1331" y="1682"/>
                  </a:cubicBezTo>
                  <a:cubicBezTo>
                    <a:pt x="936" y="2460"/>
                    <a:pt x="242" y="2544"/>
                    <a:pt x="242" y="2544"/>
                  </a:cubicBezTo>
                  <a:cubicBezTo>
                    <a:pt x="162" y="1494"/>
                    <a:pt x="6" y="1482"/>
                    <a:pt x="0" y="1362"/>
                  </a:cubicBezTo>
                  <a:cubicBezTo>
                    <a:pt x="120" y="924"/>
                    <a:pt x="312" y="618"/>
                    <a:pt x="424" y="503"/>
                  </a:cubicBezTo>
                  <a:cubicBezTo>
                    <a:pt x="1008" y="0"/>
                    <a:pt x="1649" y="49"/>
                    <a:pt x="1649" y="49"/>
                  </a:cubicBezTo>
                  <a:close/>
                </a:path>
              </a:pathLst>
            </a:custGeom>
            <a:solidFill>
              <a:srgbClr val="FFFFFF">
                <a:alpha val="1921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70;p165"/>
          <p:cNvGrpSpPr/>
          <p:nvPr/>
        </p:nvGrpSpPr>
        <p:grpSpPr>
          <a:xfrm>
            <a:off x="7778750" y="-63500"/>
            <a:ext cx="1247775" cy="1257300"/>
            <a:chOff x="-31" y="663"/>
            <a:chExt cx="3222" cy="2997"/>
          </a:xfrm>
        </p:grpSpPr>
        <p:sp>
          <p:nvSpPr>
            <p:cNvPr id="71" name="Google Shape;71;p165"/>
            <p:cNvSpPr/>
            <p:nvPr/>
          </p:nvSpPr>
          <p:spPr>
            <a:xfrm>
              <a:off x="-31" y="1083"/>
              <a:ext cx="1816" cy="2577"/>
            </a:xfrm>
            <a:custGeom>
              <a:avLst/>
              <a:gdLst/>
              <a:ahLst/>
              <a:cxnLst/>
              <a:rect l="l" t="t" r="r" b="b"/>
              <a:pathLst>
                <a:path w="1818" h="2577" extrusionOk="0">
                  <a:moveTo>
                    <a:pt x="37" y="83"/>
                  </a:moveTo>
                  <a:cubicBezTo>
                    <a:pt x="0" y="102"/>
                    <a:pt x="108" y="1122"/>
                    <a:pt x="252" y="1488"/>
                  </a:cubicBezTo>
                  <a:cubicBezTo>
                    <a:pt x="309" y="1573"/>
                    <a:pt x="522" y="2400"/>
                    <a:pt x="1760" y="2577"/>
                  </a:cubicBezTo>
                  <a:cubicBezTo>
                    <a:pt x="1818" y="816"/>
                    <a:pt x="1125" y="400"/>
                    <a:pt x="1125" y="400"/>
                  </a:cubicBezTo>
                  <a:cubicBezTo>
                    <a:pt x="588" y="0"/>
                    <a:pt x="37" y="83"/>
                    <a:pt x="37" y="83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>
                  <a:alpha val="19215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65"/>
            <p:cNvSpPr/>
            <p:nvPr/>
          </p:nvSpPr>
          <p:spPr>
            <a:xfrm>
              <a:off x="1486" y="663"/>
              <a:ext cx="1705" cy="2543"/>
            </a:xfrm>
            <a:custGeom>
              <a:avLst/>
              <a:gdLst/>
              <a:ahLst/>
              <a:cxnLst/>
              <a:rect l="l" t="t" r="r" b="b"/>
              <a:pathLst>
                <a:path w="1704" h="2544" extrusionOk="0">
                  <a:moveTo>
                    <a:pt x="1649" y="49"/>
                  </a:moveTo>
                  <a:cubicBezTo>
                    <a:pt x="1649" y="49"/>
                    <a:pt x="1704" y="846"/>
                    <a:pt x="1331" y="1682"/>
                  </a:cubicBezTo>
                  <a:cubicBezTo>
                    <a:pt x="936" y="2460"/>
                    <a:pt x="242" y="2544"/>
                    <a:pt x="242" y="2544"/>
                  </a:cubicBezTo>
                  <a:cubicBezTo>
                    <a:pt x="162" y="1494"/>
                    <a:pt x="6" y="1482"/>
                    <a:pt x="0" y="1362"/>
                  </a:cubicBezTo>
                  <a:cubicBezTo>
                    <a:pt x="120" y="924"/>
                    <a:pt x="312" y="618"/>
                    <a:pt x="424" y="503"/>
                  </a:cubicBezTo>
                  <a:cubicBezTo>
                    <a:pt x="1008" y="0"/>
                    <a:pt x="1649" y="49"/>
                    <a:pt x="1649" y="49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>
                  <a:alpha val="19215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165"/>
          <p:cNvSpPr txBox="1">
            <a:spLocks noGrp="1"/>
          </p:cNvSpPr>
          <p:nvPr>
            <p:ph type="title"/>
          </p:nvPr>
        </p:nvSpPr>
        <p:spPr>
          <a:xfrm>
            <a:off x="393700" y="144462"/>
            <a:ext cx="5762625" cy="88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6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•"/>
              <a:defRPr sz="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sz="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»"/>
              <a:defRPr sz="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»"/>
              <a:defRPr sz="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»"/>
              <a:defRPr sz="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»"/>
              <a:defRPr sz="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»"/>
              <a:defRPr sz="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75" name="Google Shape;75;p165"/>
          <p:cNvSpPr txBox="1">
            <a:spLocks noGrp="1"/>
          </p:cNvSpPr>
          <p:nvPr>
            <p:ph type="sldNum" idx="12"/>
          </p:nvPr>
        </p:nvSpPr>
        <p:spPr>
          <a:xfrm>
            <a:off x="2654300" y="65246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transition spd="med">
    <p:random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5"/>
          <p:cNvSpPr txBox="1">
            <a:spLocks noGrp="1"/>
          </p:cNvSpPr>
          <p:nvPr>
            <p:ph type="ctrTitle"/>
          </p:nvPr>
        </p:nvSpPr>
        <p:spPr>
          <a:xfrm>
            <a:off x="1143000" y="1124530"/>
            <a:ext cx="6858000" cy="1211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0501"/>
              <a:buNone/>
            </a:pPr>
            <a:br>
              <a:rPr lang="en-US" dirty="0"/>
            </a:br>
            <a:r>
              <a:rPr lang="zh-TW" altLang="en-US" dirty="0"/>
              <a:t>科技應用專題</a:t>
            </a:r>
            <a:endParaRPr sz="5100" dirty="0">
              <a:solidFill>
                <a:srgbClr val="FFFF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85" name="Google Shape;85;p205"/>
          <p:cNvSpPr txBox="1"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1915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/>
            <a:r>
              <a:rPr lang="zh-TW" altLang="en-US" sz="3600" dirty="0">
                <a:solidFill>
                  <a:srgbClr val="0070C0"/>
                </a:solidFill>
                <a:latin typeface="DFKai-SB"/>
                <a:ea typeface="DFKai-SB"/>
                <a:cs typeface="DFKai-SB"/>
                <a:sym typeface="DFKai-SB"/>
              </a:rPr>
              <a:t>程式流程圖教學</a:t>
            </a:r>
            <a:endParaRPr sz="3600" dirty="0">
              <a:solidFill>
                <a:srgbClr val="0070C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F9EB37FD-FFB2-47B1-BF5D-254BB959D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大綱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3148B43-5684-441C-AE15-D29270C41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29032"/>
            <a:ext cx="8229600" cy="4897130"/>
          </a:xfrm>
        </p:spPr>
        <p:txBody>
          <a:bodyPr/>
          <a:lstStyle/>
          <a:p>
            <a:r>
              <a:rPr lang="zh-TW" altLang="en-US" dirty="0"/>
              <a:t>程式流程圖的基本概念</a:t>
            </a:r>
          </a:p>
          <a:p>
            <a:r>
              <a:rPr lang="zh-TW" altLang="en-US" dirty="0"/>
              <a:t>教導如何繪製程式流程圖</a:t>
            </a:r>
          </a:p>
          <a:p>
            <a:r>
              <a:rPr lang="zh-TW" altLang="en-US" dirty="0"/>
              <a:t>解釋程式流程圖的重要性和應用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586388894"/>
      </p:ext>
    </p:extLst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F9EB37FD-FFB2-47B1-BF5D-254BB959D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程式流程圖的基本概念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3148B43-5684-441C-AE15-D29270C41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29032"/>
            <a:ext cx="8229600" cy="4897130"/>
          </a:xfrm>
        </p:spPr>
        <p:txBody>
          <a:bodyPr/>
          <a:lstStyle/>
          <a:p>
            <a:r>
              <a:rPr lang="zh-TW" altLang="en-US" dirty="0"/>
              <a:t>程式流程圖是什麼：</a:t>
            </a:r>
          </a:p>
          <a:p>
            <a:pPr lvl="1"/>
            <a:r>
              <a:rPr lang="zh-TW" altLang="en-US" dirty="0"/>
              <a:t>程式流程圖定義</a:t>
            </a:r>
            <a:endParaRPr lang="en-US" altLang="zh-TW" dirty="0"/>
          </a:p>
          <a:p>
            <a:pPr lvl="2"/>
            <a:r>
              <a:rPr lang="zh-TW" altLang="en-US" dirty="0"/>
              <a:t>程式流程圖是一種視覺化工具，用於描述和呈現計算機程式或過程的邏輯和流程。</a:t>
            </a:r>
            <a:endParaRPr lang="en-US" altLang="zh-TW" dirty="0"/>
          </a:p>
          <a:p>
            <a:pPr lvl="2"/>
            <a:r>
              <a:rPr lang="zh-TW" altLang="en-US" dirty="0"/>
              <a:t>它通常由一系列符號、形狀和連接線組成，用於表示不同的操作、決策、輸入和輸出，以及它們之間的相互關係。</a:t>
            </a:r>
            <a:endParaRPr lang="en-US" altLang="zh-TW" dirty="0"/>
          </a:p>
          <a:p>
            <a:pPr lvl="2"/>
            <a:r>
              <a:rPr lang="zh-TW" altLang="en-US" dirty="0"/>
              <a:t>程式流程圖有助於以簡單、易於理解的方式展示程式的執行路徑，並可用於軟體設計、流程分析、自動化等不同領域。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581470551"/>
      </p:ext>
    </p:extLst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F9EB37FD-FFB2-47B1-BF5D-254BB959D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常見的程式流程圖元素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3148B43-5684-441C-AE15-D29270C41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29032"/>
            <a:ext cx="8229600" cy="4897130"/>
          </a:xfrm>
        </p:spPr>
        <p:txBody>
          <a:bodyPr/>
          <a:lstStyle/>
          <a:p>
            <a:endParaRPr lang="en-US" altLang="zh-TW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1F618C3-7908-4C48-B7AE-8A7BE492F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894380"/>
              </p:ext>
            </p:extLst>
          </p:nvPr>
        </p:nvGraphicFramePr>
        <p:xfrm>
          <a:off x="457200" y="1376515"/>
          <a:ext cx="8229600" cy="4754880"/>
        </p:xfrm>
        <a:graphic>
          <a:graphicData uri="http://schemas.openxmlformats.org/drawingml/2006/table">
            <a:tbl>
              <a:tblPr bandRow="1">
                <a:tableStyleId>{5DA37D80-6434-44D0-A028-1B22A696006F}</a:tableStyleId>
              </a:tblPr>
              <a:tblGrid>
                <a:gridCol w="5520813">
                  <a:extLst>
                    <a:ext uri="{9D8B030D-6E8A-4147-A177-3AD203B41FA5}">
                      <a16:colId xmlns:a16="http://schemas.microsoft.com/office/drawing/2014/main" val="2221342128"/>
                    </a:ext>
                  </a:extLst>
                </a:gridCol>
                <a:gridCol w="2708787">
                  <a:extLst>
                    <a:ext uri="{9D8B030D-6E8A-4147-A177-3AD203B41FA5}">
                      <a16:colId xmlns:a16="http://schemas.microsoft.com/office/drawing/2014/main" val="3821846881"/>
                    </a:ext>
                  </a:extLst>
                </a:gridCol>
              </a:tblGrid>
              <a:tr h="788488">
                <a:tc>
                  <a:txBody>
                    <a:bodyPr/>
                    <a:lstStyle/>
                    <a:p>
                      <a:r>
                        <a:rPr lang="zh-TW" altLang="en-US" sz="2400" b="1" dirty="0"/>
                        <a:t>開始</a:t>
                      </a:r>
                      <a:r>
                        <a:rPr lang="en-US" altLang="zh-TW" sz="2400" b="1" dirty="0"/>
                        <a:t>/</a:t>
                      </a:r>
                      <a:r>
                        <a:rPr lang="zh-TW" altLang="en-US" sz="2400" b="1" dirty="0"/>
                        <a:t>結束符號</a:t>
                      </a:r>
                      <a:r>
                        <a:rPr lang="zh-TW" altLang="en-US" sz="2400" dirty="0"/>
                        <a:t>： 通常以橢圓形或圓圈表示，表示程式或流程的開始和結束點。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224501"/>
                  </a:ext>
                </a:extLst>
              </a:tr>
              <a:tr h="1138927">
                <a:tc>
                  <a:txBody>
                    <a:bodyPr/>
                    <a:lstStyle/>
                    <a:p>
                      <a:r>
                        <a:rPr lang="zh-TW" altLang="en-US" sz="2400" u="none" strike="noStrike" cap="none" dirty="0">
                          <a:sym typeface="Arial"/>
                        </a:rPr>
                        <a:t>流程符號： 使用矩形表示，表示執行操作的步驟。典型的操作可以包括數學運算、資料處理、函數調用等。</a:t>
                      </a:r>
                      <a:endParaRPr lang="zh-TW" altLang="en-US" sz="2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536554"/>
                  </a:ext>
                </a:extLst>
              </a:tr>
              <a:tr h="723016">
                <a:tc>
                  <a:txBody>
                    <a:bodyPr/>
                    <a:lstStyle/>
                    <a:p>
                      <a:r>
                        <a:rPr lang="zh-TW" altLang="en-US" sz="2400" b="1" u="none" strike="noStrike" cap="none" dirty="0">
                          <a:sym typeface="Arial"/>
                        </a:rPr>
                        <a:t>輸入</a:t>
                      </a:r>
                      <a:r>
                        <a:rPr lang="en-US" altLang="zh-TW" sz="2400" b="1" u="none" strike="noStrike" cap="none" dirty="0">
                          <a:sym typeface="Arial"/>
                        </a:rPr>
                        <a:t>/</a:t>
                      </a:r>
                      <a:r>
                        <a:rPr lang="zh-TW" altLang="en-US" sz="2400" b="1" u="none" strike="noStrike" cap="none" dirty="0">
                          <a:sym typeface="Arial"/>
                        </a:rPr>
                        <a:t>輸出符號</a:t>
                      </a:r>
                      <a:r>
                        <a:rPr lang="zh-TW" altLang="en-US" sz="2400" u="none" strike="noStrike" cap="none" dirty="0">
                          <a:sym typeface="Arial"/>
                        </a:rPr>
                        <a:t>： 通常以平行四邊形表示，表示從或輸入資訊的地方。輸入可以是使用者輸入的數據，輸出可以是計算結果或顯示的信息。</a:t>
                      </a:r>
                      <a:endParaRPr lang="zh-TW" altLang="en-US" sz="2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06933"/>
                  </a:ext>
                </a:extLst>
              </a:tr>
              <a:tr h="723016">
                <a:tc>
                  <a:txBody>
                    <a:bodyPr/>
                    <a:lstStyle/>
                    <a:p>
                      <a:r>
                        <a:rPr lang="zh-TW" altLang="en-US" sz="2400" b="1" u="none" strike="noStrike" cap="none" dirty="0">
                          <a:sym typeface="Arial"/>
                        </a:rPr>
                        <a:t>判斷符號</a:t>
                      </a:r>
                      <a:r>
                        <a:rPr lang="zh-TW" altLang="en-US" sz="2400" u="none" strike="noStrike" cap="none" dirty="0">
                          <a:sym typeface="Arial"/>
                        </a:rPr>
                        <a:t>： 使用菱形表示，表示一個條件判斷，根據結果的不同可能性，程序將採取不同的分支。</a:t>
                      </a:r>
                      <a:endParaRPr lang="zh-TW" altLang="en-US" sz="2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831817"/>
                  </a:ext>
                </a:extLst>
              </a:tr>
            </a:tbl>
          </a:graphicData>
        </a:graphic>
      </p:graphicFrame>
      <p:sp>
        <p:nvSpPr>
          <p:cNvPr id="3" name="流程圖: 結束點 2">
            <a:extLst>
              <a:ext uri="{FF2B5EF4-FFF2-40B4-BE49-F238E27FC236}">
                <a16:creationId xmlns:a16="http://schemas.microsoft.com/office/drawing/2014/main" id="{187E4575-D9AA-4DAD-9F65-7B873C2406EE}"/>
              </a:ext>
            </a:extLst>
          </p:cNvPr>
          <p:cNvSpPr/>
          <p:nvPr/>
        </p:nvSpPr>
        <p:spPr>
          <a:xfrm>
            <a:off x="6362802" y="1376516"/>
            <a:ext cx="1925791" cy="619432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流程圖: 程序 5">
            <a:extLst>
              <a:ext uri="{FF2B5EF4-FFF2-40B4-BE49-F238E27FC236}">
                <a16:creationId xmlns:a16="http://schemas.microsoft.com/office/drawing/2014/main" id="{C34A8E83-867A-4E7B-9BCC-B3888AD12312}"/>
              </a:ext>
            </a:extLst>
          </p:cNvPr>
          <p:cNvSpPr/>
          <p:nvPr/>
        </p:nvSpPr>
        <p:spPr>
          <a:xfrm>
            <a:off x="6508955" y="2428568"/>
            <a:ext cx="1700980" cy="61943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流程圖: 資料 6">
            <a:extLst>
              <a:ext uri="{FF2B5EF4-FFF2-40B4-BE49-F238E27FC236}">
                <a16:creationId xmlns:a16="http://schemas.microsoft.com/office/drawing/2014/main" id="{60B26351-4BE6-4014-A3B7-01458FDE2346}"/>
              </a:ext>
            </a:extLst>
          </p:cNvPr>
          <p:cNvSpPr/>
          <p:nvPr/>
        </p:nvSpPr>
        <p:spPr>
          <a:xfrm>
            <a:off x="6362802" y="3687097"/>
            <a:ext cx="1925791" cy="1012722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流程圖: 決策 7">
            <a:extLst>
              <a:ext uri="{FF2B5EF4-FFF2-40B4-BE49-F238E27FC236}">
                <a16:creationId xmlns:a16="http://schemas.microsoft.com/office/drawing/2014/main" id="{D548401F-327E-4F05-B10D-C74D5588CEEB}"/>
              </a:ext>
            </a:extLst>
          </p:cNvPr>
          <p:cNvSpPr/>
          <p:nvPr/>
        </p:nvSpPr>
        <p:spPr>
          <a:xfrm>
            <a:off x="6362802" y="5132439"/>
            <a:ext cx="1847133" cy="83574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8998693"/>
      </p:ext>
    </p:extLst>
  </p:cSld>
  <p:clrMapOvr>
    <a:masterClrMapping/>
  </p:clrMapOvr>
  <p:transition spd="med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F9EB37FD-FFB2-47B1-BF5D-254BB959D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常見的程式流程圖元素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1F618C3-7908-4C48-B7AE-8A7BE492F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22802"/>
              </p:ext>
            </p:extLst>
          </p:nvPr>
        </p:nvGraphicFramePr>
        <p:xfrm>
          <a:off x="442861" y="1278193"/>
          <a:ext cx="8229600" cy="5145161"/>
        </p:xfrm>
        <a:graphic>
          <a:graphicData uri="http://schemas.openxmlformats.org/drawingml/2006/table">
            <a:tbl>
              <a:tblPr bandRow="1">
                <a:tableStyleId>{5DA37D80-6434-44D0-A028-1B22A696006F}</a:tableStyleId>
              </a:tblPr>
              <a:tblGrid>
                <a:gridCol w="5520813">
                  <a:extLst>
                    <a:ext uri="{9D8B030D-6E8A-4147-A177-3AD203B41FA5}">
                      <a16:colId xmlns:a16="http://schemas.microsoft.com/office/drawing/2014/main" val="2221342128"/>
                    </a:ext>
                  </a:extLst>
                </a:gridCol>
                <a:gridCol w="2708787">
                  <a:extLst>
                    <a:ext uri="{9D8B030D-6E8A-4147-A177-3AD203B41FA5}">
                      <a16:colId xmlns:a16="http://schemas.microsoft.com/office/drawing/2014/main" val="3821846881"/>
                    </a:ext>
                  </a:extLst>
                </a:gridCol>
              </a:tblGrid>
              <a:tr h="906523">
                <a:tc>
                  <a:txBody>
                    <a:bodyPr/>
                    <a:lstStyle/>
                    <a:p>
                      <a:r>
                        <a:rPr lang="zh-TW" altLang="en-US" sz="2400" b="1" dirty="0"/>
                        <a:t>連接線： </a:t>
                      </a:r>
                      <a:r>
                        <a:rPr lang="zh-TW" altLang="en-US" sz="2400" b="0" dirty="0"/>
                        <a:t>用於連接不同的符號，顯示操作和控制流程之間的順序和關聯性</a:t>
                      </a:r>
                      <a:r>
                        <a:rPr lang="zh-TW" altLang="en-US" sz="2400" b="1" dirty="0"/>
                        <a:t>。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224501"/>
                  </a:ext>
                </a:extLst>
              </a:tr>
              <a:tr h="3040762">
                <a:tc>
                  <a:txBody>
                    <a:bodyPr/>
                    <a:lstStyle/>
                    <a:p>
                      <a:r>
                        <a:rPr lang="zh-TW" altLang="en-US" sz="2400" b="1" u="none" strike="noStrike" cap="none" dirty="0">
                          <a:sym typeface="Arial"/>
                        </a:rPr>
                        <a:t>迴圈符號</a:t>
                      </a:r>
                      <a:r>
                        <a:rPr lang="zh-TW" altLang="en-US" sz="2400" u="none" strike="noStrike" cap="none" dirty="0">
                          <a:sym typeface="Arial"/>
                        </a:rPr>
                        <a:t>： 通常以箭頭指向自身的形式表示，表示一個操作或一組操作將重複執行，直到某個條件滿足。</a:t>
                      </a:r>
                      <a:endParaRPr lang="en-US" altLang="zh-TW" sz="2400" u="none" strike="noStrike" cap="none" dirty="0">
                        <a:sym typeface="Arial"/>
                      </a:endParaRPr>
                    </a:p>
                    <a:p>
                      <a:endParaRPr lang="en-US" altLang="zh-TW" sz="2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endParaRPr lang="en-US" altLang="zh-TW" sz="2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endParaRPr lang="en-US" altLang="zh-TW" sz="2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endParaRPr lang="en-US" altLang="zh-TW" sz="2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endParaRPr lang="zh-TW" altLang="en-US" sz="2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536554"/>
                  </a:ext>
                </a:extLst>
              </a:tr>
              <a:tr h="1197876">
                <a:tc>
                  <a:txBody>
                    <a:bodyPr/>
                    <a:lstStyle/>
                    <a:p>
                      <a:r>
                        <a:rPr lang="zh-TW" altLang="en-US" sz="24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子程序符號</a:t>
                      </a:r>
                      <a:r>
                        <a:rPr lang="zh-TW" altLang="en-US" sz="2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： 用於表示將控制轉移到另一個子程序或模塊，以實現更好的程式組織和重用。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06933"/>
                  </a:ext>
                </a:extLst>
              </a:tr>
            </a:tbl>
          </a:graphicData>
        </a:graphic>
      </p:graphicFrame>
      <p:sp>
        <p:nvSpPr>
          <p:cNvPr id="7" name="流程圖: 資料 6">
            <a:extLst>
              <a:ext uri="{FF2B5EF4-FFF2-40B4-BE49-F238E27FC236}">
                <a16:creationId xmlns:a16="http://schemas.microsoft.com/office/drawing/2014/main" id="{60B26351-4BE6-4014-A3B7-01458FDE2346}"/>
              </a:ext>
            </a:extLst>
          </p:cNvPr>
          <p:cNvSpPr/>
          <p:nvPr/>
        </p:nvSpPr>
        <p:spPr>
          <a:xfrm>
            <a:off x="6362802" y="3687097"/>
            <a:ext cx="1925791" cy="1012722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EAF15714-82D3-4FA0-87AB-E3103144E932}"/>
              </a:ext>
            </a:extLst>
          </p:cNvPr>
          <p:cNvCxnSpPr/>
          <p:nvPr/>
        </p:nvCxnSpPr>
        <p:spPr>
          <a:xfrm>
            <a:off x="6508955" y="1818968"/>
            <a:ext cx="15338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1" name="圖片 10">
            <a:extLst>
              <a:ext uri="{FF2B5EF4-FFF2-40B4-BE49-F238E27FC236}">
                <a16:creationId xmlns:a16="http://schemas.microsoft.com/office/drawing/2014/main" id="{01431A2F-830A-444D-9130-9565EDFA2A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364"/>
          <a:stretch/>
        </p:blipFill>
        <p:spPr>
          <a:xfrm>
            <a:off x="6044574" y="2339986"/>
            <a:ext cx="2519323" cy="2699038"/>
          </a:xfrm>
          <a:prstGeom prst="rect">
            <a:avLst/>
          </a:prstGeom>
        </p:spPr>
      </p:pic>
      <p:sp>
        <p:nvSpPr>
          <p:cNvPr id="12" name="流程圖: 預設程序 11">
            <a:extLst>
              <a:ext uri="{FF2B5EF4-FFF2-40B4-BE49-F238E27FC236}">
                <a16:creationId xmlns:a16="http://schemas.microsoft.com/office/drawing/2014/main" id="{E0ABDD04-F009-4C37-AE7A-F8F4E58235ED}"/>
              </a:ext>
            </a:extLst>
          </p:cNvPr>
          <p:cNvSpPr/>
          <p:nvPr/>
        </p:nvSpPr>
        <p:spPr>
          <a:xfrm>
            <a:off x="6362802" y="5525729"/>
            <a:ext cx="2014282" cy="707923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0258419"/>
      </p:ext>
    </p:extLst>
  </p:cSld>
  <p:clrMapOvr>
    <a:masterClrMapping/>
  </p:clrMapOvr>
  <p:transition spd="med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F9EB37FD-FFB2-47B1-BF5D-254BB959D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循序結構流程圖繪製</a:t>
            </a:r>
            <a:endParaRPr lang="en-US" altLang="zh-TW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3148B43-5684-441C-AE15-D29270C41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1229032"/>
            <a:ext cx="5093110" cy="4897130"/>
          </a:xfrm>
        </p:spPr>
        <p:txBody>
          <a:bodyPr/>
          <a:lstStyle/>
          <a:p>
            <a:r>
              <a:rPr lang="zh-TW" altLang="en-US" dirty="0"/>
              <a:t>繪製計算兩個數字的簡單程式流程圖</a:t>
            </a:r>
            <a:endParaRPr lang="en-US" altLang="zh-TW" dirty="0"/>
          </a:p>
          <a:p>
            <a:pPr lvl="1"/>
            <a:r>
              <a:rPr lang="zh-TW" altLang="en-US" dirty="0"/>
              <a:t>開始</a:t>
            </a:r>
          </a:p>
          <a:p>
            <a:pPr lvl="1"/>
            <a:r>
              <a:rPr lang="zh-TW" altLang="en-US" dirty="0"/>
              <a:t>輸入第一個數字</a:t>
            </a:r>
          </a:p>
          <a:p>
            <a:pPr lvl="1"/>
            <a:r>
              <a:rPr lang="zh-TW" altLang="en-US" dirty="0"/>
              <a:t>輸入第二個數字</a:t>
            </a:r>
          </a:p>
          <a:p>
            <a:pPr lvl="1"/>
            <a:r>
              <a:rPr lang="zh-TW" altLang="en-US" dirty="0"/>
              <a:t>加法計算</a:t>
            </a:r>
          </a:p>
          <a:p>
            <a:pPr lvl="1"/>
            <a:r>
              <a:rPr lang="zh-TW" altLang="en-US" dirty="0"/>
              <a:t>顯示結果</a:t>
            </a:r>
          </a:p>
          <a:p>
            <a:pPr lvl="1"/>
            <a:r>
              <a:rPr lang="zh-TW" altLang="en-US" dirty="0"/>
              <a:t>結束</a:t>
            </a:r>
            <a:endParaRPr lang="en-US" altLang="zh-TW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4CFB527-AD1D-4E01-9B0A-88ACA4F8E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026" y="1295929"/>
            <a:ext cx="3028335" cy="508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3825"/>
      </p:ext>
    </p:extLst>
  </p:cSld>
  <p:clrMapOvr>
    <a:masterClrMapping/>
  </p:clrMapOvr>
  <p:transition spd="med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F9EB37FD-FFB2-47B1-BF5D-254BB959D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選擇結構流程圖繪製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3148B43-5684-441C-AE15-D29270C41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1229032"/>
            <a:ext cx="5093110" cy="4897130"/>
          </a:xfrm>
        </p:spPr>
        <p:txBody>
          <a:bodyPr/>
          <a:lstStyle/>
          <a:p>
            <a:r>
              <a:rPr lang="zh-TW" altLang="en-US" sz="2400" dirty="0"/>
              <a:t>繪製檢查一個數字是否為正數、負數或零流程圖</a:t>
            </a:r>
            <a:endParaRPr lang="en-US" altLang="zh-TW" sz="2400" dirty="0"/>
          </a:p>
          <a:p>
            <a:pPr lvl="1"/>
            <a:r>
              <a:rPr lang="zh-TW" altLang="en-US" sz="2400" dirty="0"/>
              <a:t>開始</a:t>
            </a:r>
          </a:p>
          <a:p>
            <a:pPr lvl="1"/>
            <a:r>
              <a:rPr lang="zh-TW" altLang="en-US" sz="2400" dirty="0"/>
              <a:t>輸入一個數字</a:t>
            </a:r>
          </a:p>
          <a:p>
            <a:pPr lvl="1"/>
            <a:r>
              <a:rPr lang="zh-TW" altLang="en-US" sz="2400" dirty="0"/>
              <a:t>檢查數字是否大於</a:t>
            </a:r>
            <a:r>
              <a:rPr lang="en-US" altLang="zh-TW" sz="2400" dirty="0"/>
              <a:t>0</a:t>
            </a:r>
          </a:p>
          <a:p>
            <a:pPr lvl="2"/>
            <a:r>
              <a:rPr lang="zh-TW" altLang="en-US" sz="2400" dirty="0"/>
              <a:t>是 </a:t>
            </a:r>
            <a:r>
              <a:rPr lang="en-US" altLang="zh-TW" sz="2400" dirty="0"/>
              <a:t>-&gt; </a:t>
            </a:r>
            <a:r>
              <a:rPr lang="zh-TW" altLang="en-US" sz="2400" dirty="0"/>
              <a:t>顯示</a:t>
            </a:r>
            <a:r>
              <a:rPr lang="en-US" altLang="zh-TW" sz="2400" dirty="0"/>
              <a:t>“</a:t>
            </a:r>
            <a:r>
              <a:rPr lang="zh-TW" altLang="en-US" sz="2400" dirty="0"/>
              <a:t>這是一個正數</a:t>
            </a:r>
            <a:r>
              <a:rPr lang="en-US" altLang="zh-TW" sz="2400" dirty="0"/>
              <a:t>”</a:t>
            </a:r>
          </a:p>
          <a:p>
            <a:pPr lvl="2"/>
            <a:r>
              <a:rPr lang="zh-TW" altLang="en-US" sz="2400" dirty="0"/>
              <a:t>否 </a:t>
            </a:r>
            <a:r>
              <a:rPr lang="en-US" altLang="zh-TW" sz="2400" dirty="0"/>
              <a:t>-&gt; </a:t>
            </a:r>
            <a:r>
              <a:rPr lang="zh-TW" altLang="en-US" sz="2400" dirty="0"/>
              <a:t>檢查數字是否小於</a:t>
            </a:r>
            <a:r>
              <a:rPr lang="en-US" altLang="zh-TW" sz="2400" dirty="0"/>
              <a:t>0</a:t>
            </a:r>
          </a:p>
          <a:p>
            <a:pPr lvl="3"/>
            <a:r>
              <a:rPr lang="zh-TW" altLang="en-US" sz="2400" dirty="0"/>
              <a:t>是 </a:t>
            </a:r>
            <a:r>
              <a:rPr lang="en-US" altLang="zh-TW" sz="2400" dirty="0"/>
              <a:t>-&gt; </a:t>
            </a:r>
            <a:r>
              <a:rPr lang="zh-TW" altLang="en-US" sz="2400" dirty="0"/>
              <a:t>顯示</a:t>
            </a:r>
            <a:r>
              <a:rPr lang="en-US" altLang="zh-TW" sz="2400" dirty="0"/>
              <a:t>"</a:t>
            </a:r>
            <a:r>
              <a:rPr lang="zh-TW" altLang="en-US" sz="2400" dirty="0"/>
              <a:t>這是一個負數</a:t>
            </a:r>
            <a:r>
              <a:rPr lang="en-US" altLang="zh-TW" sz="2400" dirty="0"/>
              <a:t>“</a:t>
            </a:r>
          </a:p>
          <a:p>
            <a:pPr lvl="3"/>
            <a:r>
              <a:rPr lang="zh-TW" altLang="en-US" sz="2400" dirty="0"/>
              <a:t>否 </a:t>
            </a:r>
            <a:r>
              <a:rPr lang="en-US" altLang="zh-TW" sz="2400" dirty="0"/>
              <a:t>-&gt; </a:t>
            </a:r>
            <a:r>
              <a:rPr lang="zh-TW" altLang="en-US" sz="2400" dirty="0"/>
              <a:t>顯示</a:t>
            </a:r>
            <a:r>
              <a:rPr lang="en-US" altLang="zh-TW" sz="2400" dirty="0"/>
              <a:t>"</a:t>
            </a:r>
            <a:r>
              <a:rPr lang="zh-TW" altLang="en-US" sz="2400" dirty="0"/>
              <a:t>這是零</a:t>
            </a:r>
            <a:r>
              <a:rPr lang="en-US" altLang="zh-TW" sz="2400" dirty="0"/>
              <a:t>"</a:t>
            </a:r>
          </a:p>
          <a:p>
            <a:pPr lvl="1"/>
            <a:r>
              <a:rPr lang="zh-TW" altLang="en-US" sz="2400" dirty="0"/>
              <a:t>結束</a:t>
            </a:r>
            <a:endParaRPr lang="en-US" altLang="zh-TW" sz="24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D965CCB-0A5F-461E-B1BC-1A1D67522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826" y="1439208"/>
            <a:ext cx="4031174" cy="489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170369"/>
      </p:ext>
    </p:extLst>
  </p:cSld>
  <p:clrMapOvr>
    <a:masterClrMapping/>
  </p:clrMapOvr>
  <p:transition spd="med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F9EB37FD-FFB2-47B1-BF5D-254BB959D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重複結構流程圖繪製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3148B43-5684-441C-AE15-D29270C41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1229032"/>
            <a:ext cx="5093110" cy="4897130"/>
          </a:xfrm>
        </p:spPr>
        <p:txBody>
          <a:bodyPr/>
          <a:lstStyle/>
          <a:p>
            <a:r>
              <a:rPr lang="zh-TW" altLang="en-US" sz="2400" dirty="0"/>
              <a:t>繪製計算</a:t>
            </a:r>
            <a:r>
              <a:rPr lang="en-US" altLang="zh-TW" sz="2400" dirty="0"/>
              <a:t>1</a:t>
            </a:r>
            <a:r>
              <a:rPr lang="zh-TW" altLang="en-US" sz="2400" dirty="0"/>
              <a:t>到</a:t>
            </a:r>
            <a:r>
              <a:rPr lang="en-US" altLang="zh-TW" sz="2400" dirty="0"/>
              <a:t>10</a:t>
            </a:r>
            <a:r>
              <a:rPr lang="zh-TW" altLang="en-US" sz="2400" dirty="0"/>
              <a:t>的總和流程圖</a:t>
            </a:r>
            <a:endParaRPr lang="en-US" altLang="zh-TW" sz="2400" dirty="0"/>
          </a:p>
          <a:p>
            <a:pPr lvl="1"/>
            <a:r>
              <a:rPr lang="zh-TW" altLang="en-US" sz="2400" dirty="0"/>
              <a:t>開始</a:t>
            </a:r>
          </a:p>
          <a:p>
            <a:pPr lvl="1"/>
            <a:r>
              <a:rPr lang="zh-TW" altLang="en-US" sz="2400" dirty="0"/>
              <a:t>初始化總和變數</a:t>
            </a:r>
          </a:p>
          <a:p>
            <a:pPr lvl="1"/>
            <a:r>
              <a:rPr lang="zh-TW" altLang="en-US" sz="2400" dirty="0"/>
              <a:t>設定</a:t>
            </a:r>
            <a:r>
              <a:rPr lang="en-US" altLang="zh-TW" sz="2400" dirty="0" err="1"/>
              <a:t>i</a:t>
            </a:r>
            <a:r>
              <a:rPr lang="zh-TW" altLang="en-US" sz="2400" dirty="0"/>
              <a:t>為</a:t>
            </a:r>
            <a:r>
              <a:rPr lang="en-US" altLang="zh-TW" sz="2400" dirty="0"/>
              <a:t>1</a:t>
            </a:r>
          </a:p>
          <a:p>
            <a:pPr lvl="1"/>
            <a:r>
              <a:rPr lang="zh-TW" altLang="en-US" sz="2400" dirty="0"/>
              <a:t>進入迴圈</a:t>
            </a:r>
          </a:p>
          <a:p>
            <a:pPr lvl="1"/>
            <a:r>
              <a:rPr lang="zh-TW" altLang="en-US" sz="2400" dirty="0"/>
              <a:t>    將</a:t>
            </a:r>
            <a:r>
              <a:rPr lang="en-US" altLang="zh-TW" sz="2400" dirty="0" err="1"/>
              <a:t>i</a:t>
            </a:r>
            <a:r>
              <a:rPr lang="zh-TW" altLang="en-US" sz="2400" dirty="0"/>
              <a:t>添加到總和變數</a:t>
            </a:r>
          </a:p>
          <a:p>
            <a:pPr lvl="1"/>
            <a:r>
              <a:rPr lang="zh-TW" altLang="en-US" sz="2400" dirty="0"/>
              <a:t>    增加</a:t>
            </a:r>
            <a:r>
              <a:rPr lang="en-US" altLang="zh-TW" sz="2400" dirty="0" err="1"/>
              <a:t>i</a:t>
            </a:r>
            <a:r>
              <a:rPr lang="zh-TW" altLang="en-US" sz="2400" dirty="0"/>
              <a:t>的值</a:t>
            </a:r>
          </a:p>
          <a:p>
            <a:pPr lvl="1"/>
            <a:r>
              <a:rPr lang="zh-TW" altLang="en-US" sz="2400" dirty="0"/>
              <a:t>    檢查</a:t>
            </a:r>
            <a:r>
              <a:rPr lang="en-US" altLang="zh-TW" sz="2400" dirty="0" err="1"/>
              <a:t>i</a:t>
            </a:r>
            <a:r>
              <a:rPr lang="zh-TW" altLang="en-US" sz="2400" dirty="0"/>
              <a:t>是否小於等於</a:t>
            </a:r>
            <a:r>
              <a:rPr lang="en-US" altLang="zh-TW" sz="2400" dirty="0"/>
              <a:t>10</a:t>
            </a:r>
          </a:p>
          <a:p>
            <a:pPr lvl="1"/>
            <a:r>
              <a:rPr lang="zh-TW" altLang="en-US" sz="2400" dirty="0"/>
              <a:t>迴圈結束</a:t>
            </a:r>
          </a:p>
          <a:p>
            <a:pPr lvl="1"/>
            <a:r>
              <a:rPr lang="zh-TW" altLang="en-US" sz="2400" dirty="0"/>
              <a:t>顯示結果</a:t>
            </a:r>
          </a:p>
          <a:p>
            <a:pPr lvl="1"/>
            <a:r>
              <a:rPr lang="zh-TW" altLang="en-US" sz="2400" dirty="0"/>
              <a:t>結束</a:t>
            </a:r>
            <a:endParaRPr lang="en-US" altLang="zh-TW" sz="24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787EC03-4B42-4FB0-B076-32510CA6D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755" y="0"/>
            <a:ext cx="3661964" cy="681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868"/>
      </p:ext>
    </p:extLst>
  </p:cSld>
  <p:clrMapOvr>
    <a:masterClrMapping/>
  </p:clrMapOvr>
  <p:transition spd="med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F9EB37FD-FFB2-47B1-BF5D-254BB959D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程式流程圖繪製作業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3148B43-5684-441C-AE15-D29270C41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948" y="1229032"/>
            <a:ext cx="7000567" cy="4897130"/>
          </a:xfrm>
        </p:spPr>
        <p:txBody>
          <a:bodyPr/>
          <a:lstStyle/>
          <a:p>
            <a:r>
              <a:rPr lang="zh-TW" altLang="en-US" sz="2400" dirty="0"/>
              <a:t>開始</a:t>
            </a:r>
          </a:p>
          <a:p>
            <a:r>
              <a:rPr lang="zh-TW" altLang="en-US" sz="2400" dirty="0"/>
              <a:t>輸入學生姓名</a:t>
            </a:r>
          </a:p>
          <a:p>
            <a:r>
              <a:rPr lang="zh-TW" altLang="en-US" sz="2400" dirty="0"/>
              <a:t>輸入學生考試成績</a:t>
            </a:r>
          </a:p>
          <a:p>
            <a:r>
              <a:rPr lang="zh-TW" altLang="en-US" sz="2400" dirty="0"/>
              <a:t>檢查成績是否大於等於</a:t>
            </a:r>
            <a:r>
              <a:rPr lang="en-US" altLang="zh-TW" sz="2400" dirty="0"/>
              <a:t>60</a:t>
            </a:r>
            <a:r>
              <a:rPr lang="zh-TW" altLang="en-US" sz="2400" dirty="0"/>
              <a:t>分</a:t>
            </a:r>
          </a:p>
          <a:p>
            <a:r>
              <a:rPr lang="zh-TW" altLang="en-US" sz="2400" dirty="0"/>
              <a:t>    是 </a:t>
            </a:r>
            <a:r>
              <a:rPr lang="en-US" altLang="zh-TW" sz="2400" dirty="0"/>
              <a:t>-&gt; </a:t>
            </a:r>
            <a:r>
              <a:rPr lang="zh-TW" altLang="en-US" sz="2400" dirty="0"/>
              <a:t>顯示</a:t>
            </a:r>
            <a:r>
              <a:rPr lang="en-US" altLang="zh-TW" sz="2400" dirty="0"/>
              <a:t>"</a:t>
            </a:r>
            <a:r>
              <a:rPr lang="zh-TW" altLang="en-US" sz="2400" dirty="0"/>
              <a:t>學生姓名</a:t>
            </a:r>
            <a:r>
              <a:rPr lang="en-US" altLang="zh-TW" sz="2400" dirty="0"/>
              <a:t>: </a:t>
            </a:r>
            <a:r>
              <a:rPr lang="zh-TW" altLang="en-US" sz="2400" dirty="0"/>
              <a:t>通過考試</a:t>
            </a:r>
            <a:r>
              <a:rPr lang="en-US" altLang="zh-TW" sz="2400" dirty="0"/>
              <a:t>"</a:t>
            </a:r>
          </a:p>
          <a:p>
            <a:r>
              <a:rPr lang="en-US" altLang="zh-TW" sz="2400" dirty="0"/>
              <a:t>    </a:t>
            </a:r>
            <a:r>
              <a:rPr lang="zh-TW" altLang="en-US" sz="2400" dirty="0"/>
              <a:t>否 </a:t>
            </a:r>
            <a:r>
              <a:rPr lang="en-US" altLang="zh-TW" sz="2400" dirty="0"/>
              <a:t>-&gt; </a:t>
            </a:r>
            <a:r>
              <a:rPr lang="zh-TW" altLang="en-US" sz="2400" dirty="0"/>
              <a:t>顯示</a:t>
            </a:r>
            <a:r>
              <a:rPr lang="en-US" altLang="zh-TW" sz="2400" dirty="0"/>
              <a:t>"</a:t>
            </a:r>
            <a:r>
              <a:rPr lang="zh-TW" altLang="en-US" sz="2400" dirty="0"/>
              <a:t>學生姓名</a:t>
            </a:r>
            <a:r>
              <a:rPr lang="en-US" altLang="zh-TW" sz="2400" dirty="0"/>
              <a:t>: </a:t>
            </a:r>
            <a:r>
              <a:rPr lang="zh-TW" altLang="en-US" sz="2400" dirty="0"/>
              <a:t>未通過考試</a:t>
            </a:r>
            <a:r>
              <a:rPr lang="en-US" altLang="zh-TW" sz="2400" dirty="0"/>
              <a:t>"</a:t>
            </a:r>
          </a:p>
          <a:p>
            <a:r>
              <a:rPr lang="zh-TW" altLang="en-US" sz="2400" dirty="0"/>
              <a:t>重複進行下一位學生的操作</a:t>
            </a:r>
          </a:p>
          <a:p>
            <a:r>
              <a:rPr lang="zh-TW" altLang="en-US" sz="2400" dirty="0"/>
              <a:t>    是否還有更多學生未處理？</a:t>
            </a:r>
          </a:p>
          <a:p>
            <a:r>
              <a:rPr lang="zh-TW" altLang="en-US" sz="2400" dirty="0"/>
              <a:t>        是 </a:t>
            </a:r>
            <a:r>
              <a:rPr lang="en-US" altLang="zh-TW" sz="2400" dirty="0"/>
              <a:t>-&gt; </a:t>
            </a:r>
            <a:r>
              <a:rPr lang="zh-TW" altLang="en-US" sz="2400" dirty="0"/>
              <a:t>返回至輸入學生姓名</a:t>
            </a:r>
          </a:p>
          <a:p>
            <a:r>
              <a:rPr lang="zh-TW" altLang="en-US" sz="2400" dirty="0"/>
              <a:t>        否 </a:t>
            </a:r>
            <a:r>
              <a:rPr lang="en-US" altLang="zh-TW" sz="2400" dirty="0"/>
              <a:t>-&gt; </a:t>
            </a:r>
            <a:r>
              <a:rPr lang="zh-TW" altLang="en-US" sz="2400" dirty="0"/>
              <a:t>結束</a:t>
            </a:r>
          </a:p>
          <a:p>
            <a:r>
              <a:rPr lang="zh-TW" altLang="en-US" sz="2400" dirty="0"/>
              <a:t>結束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606271065"/>
      </p:ext>
    </p:extLst>
  </p:cSld>
  <p:clrMapOvr>
    <a:masterClrMapping/>
  </p:clrMapOvr>
  <p:transition spd="med">
    <p:random/>
  </p:transition>
</p:sld>
</file>

<file path=ppt/theme/theme1.xml><?xml version="1.0" encoding="utf-8"?>
<a:theme xmlns:a="http://schemas.openxmlformats.org/drawingml/2006/main" name="13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2152</TotalTime>
  <Words>520</Words>
  <Application>Microsoft Office PowerPoint</Application>
  <PresentationFormat>如螢幕大小 (4:3)</PresentationFormat>
  <Paragraphs>66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9</vt:i4>
      </vt:variant>
    </vt:vector>
  </HeadingPairs>
  <TitlesOfParts>
    <vt:vector size="17" baseType="lpstr">
      <vt:lpstr>Gulim</vt:lpstr>
      <vt:lpstr>Garamond</vt:lpstr>
      <vt:lpstr>Noto Sans</vt:lpstr>
      <vt:lpstr>新細明體</vt:lpstr>
      <vt:lpstr>Arial</vt:lpstr>
      <vt:lpstr>標楷體</vt:lpstr>
      <vt:lpstr>13_Edge</vt:lpstr>
      <vt:lpstr>2_디자인 사용자 지정</vt:lpstr>
      <vt:lpstr> 科技應用專題</vt:lpstr>
      <vt:lpstr>大綱</vt:lpstr>
      <vt:lpstr>程式流程圖的基本概念</vt:lpstr>
      <vt:lpstr>常見的程式流程圖元素</vt:lpstr>
      <vt:lpstr>常見的程式流程圖元素</vt:lpstr>
      <vt:lpstr>循序結構流程圖繪製</vt:lpstr>
      <vt:lpstr>選擇結構流程圖繪製</vt:lpstr>
      <vt:lpstr>重複結構流程圖繪製</vt:lpstr>
      <vt:lpstr>程式流程圖繪製作業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科技應用專題</dc:title>
  <dc:creator>sju</dc:creator>
  <cp:lastModifiedBy>user</cp:lastModifiedBy>
  <cp:revision>50</cp:revision>
  <dcterms:created xsi:type="dcterms:W3CDTF">2006-03-02T08:31:33Z</dcterms:created>
  <dcterms:modified xsi:type="dcterms:W3CDTF">2023-10-12T05:36:02Z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TC010721381028</vt:lpwstr>
  </property>
</Properties>
</file>
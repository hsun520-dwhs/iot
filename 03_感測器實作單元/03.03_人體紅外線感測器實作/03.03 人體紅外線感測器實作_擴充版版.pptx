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73" r:id="rId2"/>
    <p:sldId id="374" r:id="rId3"/>
    <p:sldId id="375" r:id="rId4"/>
    <p:sldId id="623" r:id="rId5"/>
    <p:sldId id="625" r:id="rId6"/>
    <p:sldId id="626" r:id="rId7"/>
    <p:sldId id="627" r:id="rId8"/>
    <p:sldId id="628" r:id="rId9"/>
    <p:sldId id="276" r:id="rId10"/>
    <p:sldId id="275" r:id="rId11"/>
    <p:sldId id="616" r:id="rId12"/>
    <p:sldId id="630" r:id="rId13"/>
    <p:sldId id="631" r:id="rId14"/>
    <p:sldId id="618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22B85-3928-4E2E-932A-533791475130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6F681-519F-45EC-8253-D21356008F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23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772816"/>
            <a:ext cx="10363200" cy="1470025"/>
          </a:xfrm>
        </p:spPr>
        <p:txBody>
          <a:bodyPr>
            <a:normAutofit/>
          </a:bodyPr>
          <a:lstStyle>
            <a:lvl1pPr algn="ctr">
              <a:defRPr sz="6000" b="1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主題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55224" y="4231177"/>
            <a:ext cx="4081549" cy="62345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作者</a:t>
            </a:r>
            <a:endParaRPr lang="en-US" dirty="0"/>
          </a:p>
        </p:txBody>
      </p:sp>
      <p:sp>
        <p:nvSpPr>
          <p:cNvPr id="13" name="文字版面配置區 10">
            <a:extLst>
              <a:ext uri="{FF2B5EF4-FFF2-40B4-BE49-F238E27FC236}">
                <a16:creationId xmlns:a16="http://schemas.microsoft.com/office/drawing/2014/main" id="{ABB88C64-E7F4-4512-880C-D1B569888B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4582" y="3438663"/>
            <a:ext cx="6742832" cy="429670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小標</a:t>
            </a:r>
          </a:p>
        </p:txBody>
      </p:sp>
    </p:spTree>
    <p:extLst>
      <p:ext uri="{BB962C8B-B14F-4D97-AF65-F5344CB8AC3E}">
        <p14:creationId xmlns:p14="http://schemas.microsoft.com/office/powerpoint/2010/main" val="350467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DFCFA17D-4EEA-4377-84C4-4B5BAF39624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44522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主題圖片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BBF003A-9A7F-4971-AA2F-A74345C4B2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55225" y="5733256"/>
            <a:ext cx="4081549" cy="62345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作者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7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37DB20E-2A39-4677-8D0D-CBF34EE89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026" y="312750"/>
            <a:ext cx="109728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講師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9F42ADB-7D30-4CDA-A166-333DE990463F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F5975DFB-33C7-4ECB-9AC7-4B3598B9E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4907" y="4293096"/>
            <a:ext cx="2063578" cy="509671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中文姓名</a:t>
            </a:r>
            <a:endParaRPr lang="en-US" altLang="zh-TW" dirty="0"/>
          </a:p>
        </p:txBody>
      </p:sp>
      <p:sp>
        <p:nvSpPr>
          <p:cNvPr id="14" name="內容版面配置區 13">
            <a:extLst>
              <a:ext uri="{FF2B5EF4-FFF2-40B4-BE49-F238E27FC236}">
                <a16:creationId xmlns:a16="http://schemas.microsoft.com/office/drawing/2014/main" id="{8B145813-1E66-4590-9F61-E90F1B5BBB0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11824" y="1819064"/>
            <a:ext cx="6552728" cy="182596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000" b="1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20000">
              <a:lnSpc>
                <a:spcPts val="3000"/>
              </a:lnSpc>
              <a:defRPr lang="zh-TW" altLang="en-US" sz="2000" kern="1200" dirty="0" smtClean="0">
                <a:solidFill>
                  <a:schemeClr val="tx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</a:lstStyle>
          <a:p>
            <a:pPr lvl="0"/>
            <a:r>
              <a:rPr lang="zh-TW" altLang="en-US" dirty="0"/>
              <a:t>簡介</a:t>
            </a:r>
            <a:endParaRPr lang="en-US" altLang="zh-TW" dirty="0"/>
          </a:p>
          <a:p>
            <a:pPr marL="720000" lvl="1" indent="-380982" algn="l" defTabSz="1219139" rtl="0" eaLnBrk="1" latinLnBrk="0" hangingPunct="1">
              <a:spcBef>
                <a:spcPct val="20000"/>
              </a:spcBef>
              <a:buFont typeface="Arial" pitchFamily="34" charset="0"/>
              <a:buChar char="–"/>
            </a:pPr>
            <a:r>
              <a:rPr lang="zh-TW" altLang="en-US" dirty="0"/>
              <a:t>說明</a:t>
            </a:r>
          </a:p>
        </p:txBody>
      </p:sp>
      <p:sp>
        <p:nvSpPr>
          <p:cNvPr id="17" name="圖片版面配置區 16">
            <a:extLst>
              <a:ext uri="{FF2B5EF4-FFF2-40B4-BE49-F238E27FC236}">
                <a16:creationId xmlns:a16="http://schemas.microsoft.com/office/drawing/2014/main" id="{6B1B20EF-E6D7-41DF-B122-74D73F8BD6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13656" y="1628770"/>
            <a:ext cx="2606080" cy="2540658"/>
          </a:xfrm>
          <a:prstGeom prst="ellipse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20" name="文字版面配置區 10">
            <a:extLst>
              <a:ext uri="{FF2B5EF4-FFF2-40B4-BE49-F238E27FC236}">
                <a16:creationId xmlns:a16="http://schemas.microsoft.com/office/drawing/2014/main" id="{3037F0D9-D245-4D3D-A699-A40BE9FB10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4907" y="4802767"/>
            <a:ext cx="2063578" cy="509671"/>
          </a:xfr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英文姓名</a:t>
            </a:r>
            <a:endParaRPr lang="en-US" altLang="zh-TW" dirty="0"/>
          </a:p>
        </p:txBody>
      </p:sp>
      <p:sp>
        <p:nvSpPr>
          <p:cNvPr id="21" name="內容版面配置區 13">
            <a:extLst>
              <a:ext uri="{FF2B5EF4-FFF2-40B4-BE49-F238E27FC236}">
                <a16:creationId xmlns:a16="http://schemas.microsoft.com/office/drawing/2014/main" id="{B7A7209F-EE29-47C2-890F-51621E9088A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11824" y="3717032"/>
            <a:ext cx="6552728" cy="1825960"/>
          </a:xfrm>
        </p:spPr>
        <p:txBody>
          <a:bodyPr/>
          <a:lstStyle>
            <a:lvl1pPr marL="0" indent="-380982">
              <a:lnSpc>
                <a:spcPts val="3000"/>
              </a:lnSpc>
              <a:buNone/>
              <a:defRPr sz="2000" b="1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20000">
              <a:lnSpc>
                <a:spcPts val="3000"/>
              </a:lnSpc>
              <a:defRPr lang="zh-TW" altLang="en-US" sz="2000" kern="1200" dirty="0" smtClean="0">
                <a:solidFill>
                  <a:schemeClr val="tx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</a:lstStyle>
          <a:p>
            <a:pPr lvl="0"/>
            <a:r>
              <a:rPr lang="zh-TW" altLang="en-US" dirty="0"/>
              <a:t>研究領域</a:t>
            </a:r>
            <a:endParaRPr lang="en-US" altLang="zh-TW" dirty="0"/>
          </a:p>
          <a:p>
            <a:pPr marL="720000" lvl="1" indent="-380982" algn="l" defTabSz="1219139" rtl="0" eaLnBrk="1" latinLnBrk="0" hangingPunct="1">
              <a:spcBef>
                <a:spcPct val="20000"/>
              </a:spcBef>
              <a:buFont typeface="Arial" pitchFamily="34" charset="0"/>
              <a:buChar char="–"/>
            </a:pPr>
            <a:r>
              <a:rPr lang="zh-TW" altLang="en-US" dirty="0"/>
              <a:t>說明</a:t>
            </a:r>
          </a:p>
        </p:txBody>
      </p:sp>
    </p:spTree>
    <p:extLst>
      <p:ext uri="{BB962C8B-B14F-4D97-AF65-F5344CB8AC3E}">
        <p14:creationId xmlns:p14="http://schemas.microsoft.com/office/powerpoint/2010/main" val="345496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5400" y="1628800"/>
            <a:ext cx="10887000" cy="4137324"/>
          </a:xfrm>
        </p:spPr>
        <p:txBody>
          <a:bodyPr/>
          <a:lstStyle>
            <a:lvl1pPr>
              <a:lnSpc>
                <a:spcPts val="3500"/>
              </a:lnSpc>
              <a:defRPr sz="2400" b="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lnSpc>
                <a:spcPts val="3200"/>
              </a:lnSpc>
              <a:defRPr sz="18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lnSpc>
                <a:spcPts val="30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lnSpc>
                <a:spcPts val="3000"/>
              </a:lnSpc>
              <a:defRPr sz="16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ts val="3000"/>
              </a:lnSpc>
              <a:defRPr sz="14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6DF8B3-7002-47B1-AC19-7D0C2BBDA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56659"/>
            <a:ext cx="109728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7898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76872"/>
            <a:ext cx="10972800" cy="1143000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9F42ADB-7D30-4CDA-A166-333DE990463F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23397" y="160479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F5975DFB-33C7-4ECB-9AC7-4B3598B9E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1684" y="3479512"/>
            <a:ext cx="6828632" cy="42967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小標</a:t>
            </a:r>
          </a:p>
        </p:txBody>
      </p:sp>
    </p:spTree>
    <p:extLst>
      <p:ext uri="{BB962C8B-B14F-4D97-AF65-F5344CB8AC3E}">
        <p14:creationId xmlns:p14="http://schemas.microsoft.com/office/powerpoint/2010/main" val="281667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6819"/>
            <a:ext cx="10972800" cy="4137324"/>
          </a:xfrm>
        </p:spPr>
        <p:txBody>
          <a:bodyPr/>
          <a:lstStyle>
            <a:lvl1pPr>
              <a:lnSpc>
                <a:spcPts val="3500"/>
              </a:lnSpc>
              <a:defRPr sz="2400" b="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lnSpc>
                <a:spcPts val="32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lnSpc>
                <a:spcPts val="30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lnSpc>
                <a:spcPts val="3000"/>
              </a:lnSpc>
              <a:defRPr sz="16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ts val="3000"/>
              </a:lnSpc>
              <a:defRPr sz="14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6DF8B3-7002-47B1-AC19-7D0C2BBDA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56659"/>
            <a:ext cx="109728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72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3" y="1535113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400" b="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3" y="2174875"/>
            <a:ext cx="5386917" cy="3951288"/>
          </a:xfrm>
        </p:spPr>
        <p:txBody>
          <a:bodyPr>
            <a:normAutofit/>
          </a:bodyPr>
          <a:lstStyle>
            <a:lvl1pPr>
              <a:lnSpc>
                <a:spcPts val="28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lnSpc>
                <a:spcPts val="2800"/>
              </a:lnSpc>
              <a:defRPr sz="1800" baseline="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lnSpc>
                <a:spcPts val="2800"/>
              </a:lnSpc>
              <a:defRPr sz="16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lnSpc>
                <a:spcPts val="2800"/>
              </a:lnSpc>
              <a:defRPr sz="12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ts val="2800"/>
              </a:lnSpc>
              <a:defRPr sz="12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kern="1200" dirty="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571AA8-11AF-4F5B-8229-26810343B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56659"/>
            <a:ext cx="109728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FC760B5-7A37-4C0C-AF24-92588D628FF5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5480" y="2210330"/>
            <a:ext cx="5386917" cy="3915833"/>
          </a:xfrm>
        </p:spPr>
        <p:txBody>
          <a:bodyPr>
            <a:normAutofit/>
          </a:bodyPr>
          <a:lstStyle>
            <a:lvl1pPr>
              <a:lnSpc>
                <a:spcPts val="28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lnSpc>
                <a:spcPts val="2800"/>
              </a:lnSpc>
              <a:defRPr sz="18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lnSpc>
                <a:spcPts val="2800"/>
              </a:lnSpc>
              <a:defRPr sz="16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lnSpc>
                <a:spcPts val="2800"/>
              </a:lnSpc>
              <a:defRPr sz="12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ts val="2800"/>
              </a:lnSpc>
              <a:defRPr sz="12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06342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28800"/>
            <a:ext cx="5846440" cy="2232248"/>
          </a:xfrm>
        </p:spPr>
        <p:txBody>
          <a:bodyPr/>
          <a:lstStyle>
            <a:lvl1pPr>
              <a:lnSpc>
                <a:spcPts val="3500"/>
              </a:lnSpc>
              <a:defRPr sz="2400" b="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lnSpc>
                <a:spcPts val="32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lnSpc>
                <a:spcPts val="3000"/>
              </a:lnSpc>
              <a:defRPr sz="18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lnSpc>
                <a:spcPts val="3000"/>
              </a:lnSpc>
              <a:defRPr sz="16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ts val="3000"/>
              </a:lnSpc>
              <a:defRPr sz="14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6DF8B3-7002-47B1-AC19-7D0C2BBDA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56659"/>
            <a:ext cx="109728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8" name="圖片版面配置區 7">
            <a:extLst>
              <a:ext uri="{FF2B5EF4-FFF2-40B4-BE49-F238E27FC236}">
                <a16:creationId xmlns:a16="http://schemas.microsoft.com/office/drawing/2014/main" id="{27EE2DF0-CB9A-4979-B738-8C5C67E672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48128" y="1700807"/>
            <a:ext cx="4032448" cy="3839549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3DA412-D21B-41A4-886A-F48BBF4F03E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600" y="3933056"/>
            <a:ext cx="5846440" cy="2232248"/>
          </a:xfrm>
        </p:spPr>
        <p:txBody>
          <a:bodyPr/>
          <a:lstStyle>
            <a:lvl1pPr>
              <a:lnSpc>
                <a:spcPts val="3500"/>
              </a:lnSpc>
              <a:defRPr sz="2400" b="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lnSpc>
                <a:spcPts val="32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lnSpc>
                <a:spcPts val="3000"/>
              </a:lnSpc>
              <a:defRPr sz="18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lnSpc>
                <a:spcPts val="3000"/>
              </a:lnSpc>
              <a:defRPr sz="16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ts val="3000"/>
              </a:lnSpc>
              <a:defRPr sz="14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A731693F-E42B-4BE8-BA92-A5400F57C2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96200" y="5540357"/>
            <a:ext cx="2966144" cy="365125"/>
          </a:xfrm>
        </p:spPr>
        <p:txBody>
          <a:bodyPr>
            <a:normAutofit/>
          </a:bodyPr>
          <a:lstStyle>
            <a:lvl3pPr marL="0" indent="0" algn="ctr">
              <a:buNone/>
              <a:defRPr sz="16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</a:lstStyle>
          <a:p>
            <a:pPr lvl="2"/>
            <a:r>
              <a:rPr lang="zh-TW" altLang="en-US" dirty="0"/>
              <a:t>圖片介紹文字</a:t>
            </a:r>
          </a:p>
        </p:txBody>
      </p:sp>
    </p:spTree>
    <p:extLst>
      <p:ext uri="{BB962C8B-B14F-4D97-AF65-F5344CB8AC3E}">
        <p14:creationId xmlns:p14="http://schemas.microsoft.com/office/powerpoint/2010/main" val="2650275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796819"/>
            <a:ext cx="8006680" cy="912101"/>
          </a:xfrm>
        </p:spPr>
        <p:txBody>
          <a:bodyPr/>
          <a:lstStyle>
            <a:lvl1pPr>
              <a:lnSpc>
                <a:spcPts val="3000"/>
              </a:lnSpc>
              <a:defRPr sz="2400" b="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lnSpc>
                <a:spcPts val="30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lnSpc>
                <a:spcPts val="3000"/>
              </a:lnSpc>
              <a:defRPr sz="20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lnSpc>
                <a:spcPts val="3000"/>
              </a:lnSpc>
              <a:defRPr sz="18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ts val="3000"/>
              </a:lnSpc>
              <a:defRPr sz="1600">
                <a:solidFill>
                  <a:srgbClr val="5C5C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6DF8B3-7002-47B1-AC19-7D0C2BBDA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56659"/>
            <a:ext cx="109728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4D4D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0" name="圖片版面配置區 9">
            <a:extLst>
              <a:ext uri="{FF2B5EF4-FFF2-40B4-BE49-F238E27FC236}">
                <a16:creationId xmlns:a16="http://schemas.microsoft.com/office/drawing/2014/main" id="{7781A6A1-7263-4474-BC6A-C7140FD051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83632" y="2852936"/>
            <a:ext cx="6480720" cy="3153215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C1723F8D-FBAC-486E-B742-95A7711FE3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13" name="頁尾版面配置區 12">
            <a:extLst>
              <a:ext uri="{FF2B5EF4-FFF2-40B4-BE49-F238E27FC236}">
                <a16:creationId xmlns:a16="http://schemas.microsoft.com/office/drawing/2014/main" id="{5A1C47D4-7020-49D6-90F1-194C85C508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96AA448F-72E4-4A17-B84B-9937B52E66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7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145808-EC7A-4F38-8A1F-C86F0F601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68760"/>
            <a:ext cx="12184507" cy="1143000"/>
          </a:xfrm>
        </p:spPr>
        <p:txBody>
          <a:bodyPr>
            <a:normAutofit/>
          </a:bodyPr>
          <a:lstStyle>
            <a:lvl1pPr algn="ctr">
              <a:defRPr sz="4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5B287F-FC02-4C64-BAA9-FB9C27D4C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D89AF54-9448-4B83-BEC5-B4CE9AF3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9B5C9EE-BCEF-45E4-A228-6637E4B5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6422438-8DC7-49F9-B5D4-2BC3E2003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3237504"/>
            <a:ext cx="4091134" cy="1841410"/>
          </a:xfrm>
          <a:prstGeom prst="rect">
            <a:avLst/>
          </a:prstGeom>
        </p:spPr>
      </p:pic>
      <p:sp>
        <p:nvSpPr>
          <p:cNvPr id="7" name="圖片版面配置區 8">
            <a:extLst>
              <a:ext uri="{FF2B5EF4-FFF2-40B4-BE49-F238E27FC236}">
                <a16:creationId xmlns:a16="http://schemas.microsoft.com/office/drawing/2014/main" id="{DA6C3612-283B-462E-A4C3-BE34BD6A75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35560" y="2898069"/>
            <a:ext cx="2952328" cy="25202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zh-TW" altLang="en-US" dirty="0"/>
              <a:t>問卷</a:t>
            </a:r>
            <a:r>
              <a:rPr lang="en-US" altLang="zh-TW" dirty="0"/>
              <a:t>QR</a:t>
            </a:r>
            <a:r>
              <a:rPr lang="zh-TW" altLang="en-US" dirty="0"/>
              <a:t> </a:t>
            </a:r>
            <a:r>
              <a:rPr lang="en-US" altLang="zh-TW" dirty="0"/>
              <a:t>CODE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BC4BF9-B72F-43E3-A5A7-42852772C431}"/>
              </a:ext>
            </a:extLst>
          </p:cNvPr>
          <p:cNvSpPr txBox="1"/>
          <p:nvPr userDrawn="1"/>
        </p:nvSpPr>
        <p:spPr>
          <a:xfrm>
            <a:off x="2711624" y="5535326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滿意度調查問卷</a:t>
            </a:r>
          </a:p>
        </p:txBody>
      </p:sp>
    </p:spTree>
    <p:extLst>
      <p:ext uri="{BB962C8B-B14F-4D97-AF65-F5344CB8AC3E}">
        <p14:creationId xmlns:p14="http://schemas.microsoft.com/office/powerpoint/2010/main" val="224933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2DF6FC-9AD2-4715-9F16-3FCC4D6CB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CD3324-38C1-4039-8C9B-5FD4F7E34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B68A47-5F0A-4B71-8C91-EFEBAA17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0019-10F4-43C0-946A-3E121CA28F6C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EEAD9A-ED03-4D73-9F65-1EA30FBC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CA3A2C-1C8D-490D-B690-73255014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8B45-7298-47BE-BD53-EBD9B5F312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435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42ADB-7D30-4CDA-A166-333DE990463F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28B5934-67C6-4D0E-A6C2-B657CAD1C370}"/>
              </a:ext>
            </a:extLst>
          </p:cNvPr>
          <p:cNvGrpSpPr/>
          <p:nvPr userDrawn="1"/>
        </p:nvGrpSpPr>
        <p:grpSpPr>
          <a:xfrm>
            <a:off x="0" y="1714"/>
            <a:ext cx="12192000" cy="6854572"/>
            <a:chOff x="0" y="1285"/>
            <a:chExt cx="9144000" cy="5140929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2F574DFE-1FE8-4346-BAA7-06304B6420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285"/>
              <a:ext cx="9144000" cy="5140929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24FAC44B-36AE-4FE2-9068-73CAA4A28B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4080" y="4250041"/>
              <a:ext cx="825440" cy="7773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023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39" rtl="0" eaLnBrk="1" latinLnBrk="0" hangingPunct="1">
        <a:spcBef>
          <a:spcPct val="0"/>
        </a:spcBef>
        <a:buNone/>
        <a:defRPr sz="4267" b="0" kern="1200">
          <a:solidFill>
            <a:schemeClr val="tx1">
              <a:lumMod val="65000"/>
              <a:lumOff val="35000"/>
            </a:schemeClr>
          </a:solidFill>
          <a:latin typeface="Source Sans Pro Light" pitchFamily="34" charset="0"/>
          <a:ea typeface="+mj-ea"/>
          <a:cs typeface="+mj-cs"/>
        </a:defRPr>
      </a:lvl1pPr>
    </p:titleStyle>
    <p:bodyStyle>
      <a:lvl1pPr marL="457177" indent="-457177" algn="l" defTabSz="1219139" rtl="0" eaLnBrk="1" latinLnBrk="0" hangingPunct="1">
        <a:spcBef>
          <a:spcPct val="20000"/>
        </a:spcBef>
        <a:buFont typeface="Arial" pitchFamily="34" charset="0"/>
        <a:buChar char="•"/>
        <a:defRPr sz="1867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1pPr>
      <a:lvl2pPr marL="990551" indent="-380982" algn="l" defTabSz="1219139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2pPr>
      <a:lvl3pPr marL="1523923" indent="-304784" algn="l" defTabSz="1219139" rtl="0" eaLnBrk="1" latinLnBrk="0" hangingPunct="1">
        <a:spcBef>
          <a:spcPct val="20000"/>
        </a:spcBef>
        <a:buFont typeface="Arial" pitchFamily="34" charset="0"/>
        <a:buChar char="•"/>
        <a:defRPr sz="1467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3pPr>
      <a:lvl4pPr marL="2133493" indent="-304784" algn="l" defTabSz="1219139" rtl="0" eaLnBrk="1" latinLnBrk="0" hangingPunct="1">
        <a:spcBef>
          <a:spcPct val="20000"/>
        </a:spcBef>
        <a:buFont typeface="Arial" pitchFamily="34" charset="0"/>
        <a:buChar char="–"/>
        <a:defRPr sz="1401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4pPr>
      <a:lvl5pPr marL="2743063" indent="-304784" algn="l" defTabSz="1219139" rtl="0" eaLnBrk="1" latinLnBrk="0" hangingPunct="1">
        <a:spcBef>
          <a:spcPct val="20000"/>
        </a:spcBef>
        <a:buFont typeface="Arial" pitchFamily="34" charset="0"/>
        <a:buChar char="»"/>
        <a:defRPr sz="1401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5pPr>
      <a:lvl6pPr marL="3352632" indent="-304784" algn="l" defTabSz="121913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3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121913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3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rive.google.com/file/d/1Wb1bQINCfcy6BmE8q4ytRYDANcxFXhtm/view?usp=drive_link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DDC9BF-FB4B-45F2-A8E9-77FD136F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人體紅外線感測器實作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3104B49-7288-476E-B082-3410DB1375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2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BB47AC-0F49-4C0E-B849-66BFD758A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人體紅外線感測器簡介與應用</a:t>
            </a:r>
            <a:endParaRPr lang="en-US" altLang="zh-TW" dirty="0"/>
          </a:p>
          <a:p>
            <a:r>
              <a:rPr lang="zh-TW" altLang="en-US" dirty="0"/>
              <a:t>讀取</a:t>
            </a:r>
            <a:r>
              <a:rPr lang="en-US" altLang="zh-TW" dirty="0"/>
              <a:t>PIR</a:t>
            </a:r>
            <a:r>
              <a:rPr lang="zh-TW" altLang="en-US" dirty="0"/>
              <a:t>感測器數值，並與</a:t>
            </a:r>
            <a:r>
              <a:rPr lang="en-US" altLang="zh-TW" dirty="0"/>
              <a:t>LED</a:t>
            </a:r>
            <a:r>
              <a:rPr lang="zh-TW" altLang="en-US" dirty="0"/>
              <a:t>燈連動</a:t>
            </a:r>
            <a:endParaRPr lang="en-US" altLang="zh-TW" dirty="0"/>
          </a:p>
          <a:p>
            <a:r>
              <a:rPr lang="zh-TW" altLang="en-US" dirty="0"/>
              <a:t>讀取</a:t>
            </a:r>
            <a:r>
              <a:rPr lang="en-US" altLang="zh-TW" dirty="0"/>
              <a:t>PIR</a:t>
            </a:r>
            <a:r>
              <a:rPr lang="zh-TW" altLang="en-US" dirty="0"/>
              <a:t>感測器數值，並與蜂鳴器連動</a:t>
            </a:r>
          </a:p>
          <a:p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90EA3FB0-214A-4E0A-A3C1-58450BB1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大綱</a:t>
            </a:r>
          </a:p>
        </p:txBody>
      </p:sp>
    </p:spTree>
    <p:extLst>
      <p:ext uri="{BB962C8B-B14F-4D97-AF65-F5344CB8AC3E}">
        <p14:creationId xmlns:p14="http://schemas.microsoft.com/office/powerpoint/2010/main" val="1875103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ACE974F-D635-48D1-A65E-A91C6D071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628800"/>
            <a:ext cx="6960041" cy="4137324"/>
          </a:xfrm>
        </p:spPr>
        <p:txBody>
          <a:bodyPr>
            <a:normAutofit/>
          </a:bodyPr>
          <a:lstStyle/>
          <a:p>
            <a:r>
              <a:rPr lang="zh-TW" altLang="en-US" dirty="0"/>
              <a:t>人體紅外線感測器（</a:t>
            </a:r>
            <a:r>
              <a:rPr lang="en-US" altLang="zh-TW" dirty="0"/>
              <a:t>Passive Infrared Sensor</a:t>
            </a:r>
            <a:r>
              <a:rPr lang="zh-TW" altLang="en-US" dirty="0"/>
              <a:t>，簡稱 </a:t>
            </a:r>
            <a:r>
              <a:rPr lang="en-US" altLang="zh-TW" dirty="0"/>
              <a:t>PIR </a:t>
            </a:r>
            <a:r>
              <a:rPr lang="zh-TW" altLang="en-US" dirty="0"/>
              <a:t>感測器）是一種利用紅外線（熱輻射）來檢測人體運動或存在的設備。</a:t>
            </a:r>
            <a:endParaRPr lang="en-US" altLang="zh-TW" dirty="0"/>
          </a:p>
          <a:p>
            <a:r>
              <a:rPr lang="zh-TW" altLang="en-US" dirty="0"/>
              <a:t>它基於檢測目標（如人體）所釋放的紅外線能量與背景環境的對比來運作。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0A175F5-9A42-4BC7-BCA5-B45DB281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hlinkClick r:id="rId2"/>
              </a:rPr>
              <a:t>人體紅外線感測器簡介</a:t>
            </a:r>
            <a:endParaRPr lang="zh-TW" altLang="en-US" dirty="0"/>
          </a:p>
        </p:txBody>
      </p:sp>
      <p:pic>
        <p:nvPicPr>
          <p:cNvPr id="1026" name="Picture 2" descr="https://shop.mirotek.com.tw/wp-content/uploads/2022/04/ESP32_10016-01-1024x615.png">
            <a:extLst>
              <a:ext uri="{FF2B5EF4-FFF2-40B4-BE49-F238E27FC236}">
                <a16:creationId xmlns:a16="http://schemas.microsoft.com/office/drawing/2014/main" id="{4018398A-F76E-485F-988B-8786E13237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470"/>
          <a:stretch/>
        </p:blipFill>
        <p:spPr bwMode="auto">
          <a:xfrm>
            <a:off x="8293896" y="1628800"/>
            <a:ext cx="3784689" cy="4327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23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ACE974F-D635-48D1-A65E-A91C6D071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1" y="1628800"/>
            <a:ext cx="10887000" cy="4548716"/>
          </a:xfrm>
        </p:spPr>
        <p:txBody>
          <a:bodyPr>
            <a:normAutofit/>
          </a:bodyPr>
          <a:lstStyle/>
          <a:p>
            <a:r>
              <a:rPr lang="zh-TW" altLang="en-US" b="1" dirty="0"/>
              <a:t>熱釋電效應</a:t>
            </a:r>
            <a:r>
              <a:rPr lang="zh-TW" altLang="en-US" dirty="0"/>
              <a:t>：</a:t>
            </a:r>
            <a:r>
              <a:rPr lang="en-US" altLang="zh-TW" dirty="0"/>
              <a:t>PIR </a:t>
            </a:r>
            <a:r>
              <a:rPr lang="zh-TW" altLang="en-US" dirty="0"/>
              <a:t>感測器的核心是</a:t>
            </a:r>
            <a:r>
              <a:rPr lang="zh-TW" altLang="en-US" dirty="0">
                <a:solidFill>
                  <a:srgbClr val="FF0000"/>
                </a:solidFill>
              </a:rPr>
              <a:t>熱釋電材料</a:t>
            </a:r>
            <a:r>
              <a:rPr lang="zh-TW" altLang="en-US" dirty="0"/>
              <a:t>，能感應</a:t>
            </a:r>
            <a:r>
              <a:rPr lang="zh-TW" altLang="en-US" dirty="0">
                <a:solidFill>
                  <a:srgbClr val="FF0000"/>
                </a:solidFill>
              </a:rPr>
              <a:t>紅外線輻射</a:t>
            </a:r>
            <a:r>
              <a:rPr lang="zh-TW" altLang="en-US" dirty="0"/>
              <a:t>的變化，並將其轉換為電信號。</a:t>
            </a:r>
          </a:p>
          <a:p>
            <a:r>
              <a:rPr lang="zh-TW" altLang="en-US" b="1" dirty="0"/>
              <a:t>透鏡</a:t>
            </a:r>
            <a:r>
              <a:rPr lang="zh-TW" altLang="en-US" dirty="0"/>
              <a:t>：通常搭配</a:t>
            </a:r>
            <a:r>
              <a:rPr lang="zh-TW" altLang="en-US" dirty="0">
                <a:solidFill>
                  <a:srgbClr val="FF0000"/>
                </a:solidFill>
              </a:rPr>
              <a:t>菲涅耳透鏡</a:t>
            </a:r>
            <a:r>
              <a:rPr lang="zh-TW" altLang="en-US" dirty="0"/>
              <a:t>，用於聚焦來自不同方向的紅外線，提升檢測範圍與靈敏度。</a:t>
            </a:r>
          </a:p>
          <a:p>
            <a:r>
              <a:rPr lang="zh-TW" altLang="en-US" b="1" dirty="0"/>
              <a:t>檢測範圍</a:t>
            </a:r>
            <a:r>
              <a:rPr lang="zh-TW" altLang="en-US" dirty="0"/>
              <a:t>：感測器通常有一定的範圍（如角度和距離），適合短距離檢測。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0A175F5-9A42-4BC7-BCA5-B45DB281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人體紅外線感測器工作原理</a:t>
            </a:r>
          </a:p>
        </p:txBody>
      </p:sp>
    </p:spTree>
    <p:extLst>
      <p:ext uri="{BB962C8B-B14F-4D97-AF65-F5344CB8AC3E}">
        <p14:creationId xmlns:p14="http://schemas.microsoft.com/office/powerpoint/2010/main" val="363103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5C2B5F7-0621-43E9-8906-63653BD64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b="1" dirty="0"/>
              <a:t>智慧家居</a:t>
            </a:r>
          </a:p>
          <a:p>
            <a:pPr lvl="1"/>
            <a:r>
              <a:rPr lang="zh-TW" altLang="en-US" sz="2400" b="1" dirty="0"/>
              <a:t>燈光控制</a:t>
            </a:r>
            <a:r>
              <a:rPr lang="zh-TW" altLang="en-US" sz="2400" dirty="0"/>
              <a:t>：如自動開關燈，當有人進入房間時，燈光自動開啟。</a:t>
            </a:r>
          </a:p>
          <a:p>
            <a:pPr lvl="1"/>
            <a:r>
              <a:rPr lang="zh-TW" altLang="en-US" sz="2400" b="1" dirty="0"/>
              <a:t>安全防護</a:t>
            </a:r>
            <a:r>
              <a:rPr lang="zh-TW" altLang="en-US" sz="2400" dirty="0"/>
              <a:t>：安裝於門窗周圍或走廊，用於檢測不明活動。</a:t>
            </a:r>
          </a:p>
          <a:p>
            <a:r>
              <a:rPr lang="zh-TW" altLang="en-US" b="1" dirty="0"/>
              <a:t>安防系統</a:t>
            </a:r>
          </a:p>
          <a:p>
            <a:pPr lvl="1"/>
            <a:r>
              <a:rPr lang="zh-TW" altLang="en-US" sz="2400" b="1" dirty="0"/>
              <a:t>防盜警報</a:t>
            </a:r>
            <a:r>
              <a:rPr lang="zh-TW" altLang="en-US" sz="2400" dirty="0"/>
              <a:t>：檢測是否有未經授權的進入，與報警系統結合使用。</a:t>
            </a:r>
          </a:p>
          <a:p>
            <a:pPr lvl="1"/>
            <a:r>
              <a:rPr lang="zh-TW" altLang="en-US" sz="2400" b="1" dirty="0"/>
              <a:t>周界警戒</a:t>
            </a:r>
            <a:r>
              <a:rPr lang="zh-TW" altLang="en-US" sz="2400" dirty="0"/>
              <a:t>：監測周邊環境，適合戶外設施。</a:t>
            </a:r>
          </a:p>
          <a:p>
            <a:r>
              <a:rPr lang="zh-TW" altLang="en-US" b="1" dirty="0"/>
              <a:t>公共場所自動化</a:t>
            </a:r>
          </a:p>
          <a:p>
            <a:pPr lvl="1"/>
            <a:r>
              <a:rPr lang="zh-TW" altLang="en-US" sz="2400" b="1" dirty="0"/>
              <a:t>自動門</a:t>
            </a:r>
            <a:r>
              <a:rPr lang="zh-TW" altLang="en-US" sz="2400" dirty="0"/>
              <a:t>：感應到人體接近時自動開啟。</a:t>
            </a:r>
          </a:p>
          <a:p>
            <a:pPr lvl="1"/>
            <a:r>
              <a:rPr lang="zh-TW" altLang="en-US" sz="2400" b="1" dirty="0"/>
              <a:t>空調節能</a:t>
            </a:r>
            <a:r>
              <a:rPr lang="zh-TW" altLang="en-US" sz="2400" dirty="0"/>
              <a:t>：根據人員流動控制空調開啟或調整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E0AF4B3-F402-430E-BF66-EA3207F3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人體紅外線感測器應用範圍</a:t>
            </a:r>
          </a:p>
        </p:txBody>
      </p:sp>
    </p:spTree>
    <p:extLst>
      <p:ext uri="{BB962C8B-B14F-4D97-AF65-F5344CB8AC3E}">
        <p14:creationId xmlns:p14="http://schemas.microsoft.com/office/powerpoint/2010/main" val="389572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5C2B5F7-0621-43E9-8906-63653BD64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b="1" dirty="0"/>
              <a:t>醫療與健康監測</a:t>
            </a:r>
            <a:endParaRPr lang="en-US" altLang="zh-TW" b="1" dirty="0"/>
          </a:p>
          <a:p>
            <a:pPr lvl="1"/>
            <a:r>
              <a:rPr lang="zh-TW" altLang="en-US" sz="2400" b="1" dirty="0"/>
              <a:t>老人看護</a:t>
            </a:r>
            <a:r>
              <a:rPr lang="zh-TW" altLang="en-US" sz="2400" dirty="0"/>
              <a:t>：檢測老人活動情況，及時發現異常。</a:t>
            </a:r>
            <a:endParaRPr lang="en-US" altLang="zh-TW" sz="2400" dirty="0"/>
          </a:p>
          <a:p>
            <a:pPr lvl="1"/>
            <a:r>
              <a:rPr lang="zh-TW" altLang="en-US" sz="2400" b="1" dirty="0"/>
              <a:t>手勢控制</a:t>
            </a:r>
            <a:r>
              <a:rPr lang="zh-TW" altLang="en-US" sz="2400" dirty="0"/>
              <a:t>：應用於非接觸式操作，例如手勢驅動裝置。</a:t>
            </a:r>
            <a:endParaRPr lang="en-US" altLang="zh-TW" sz="2400" dirty="0"/>
          </a:p>
          <a:p>
            <a:r>
              <a:rPr lang="zh-TW" altLang="en-US" dirty="0"/>
              <a:t>工業與商業</a:t>
            </a:r>
            <a:endParaRPr lang="en-US" altLang="zh-TW" dirty="0"/>
          </a:p>
          <a:p>
            <a:pPr lvl="1"/>
            <a:r>
              <a:rPr lang="zh-TW" altLang="en-US" sz="2400" b="1" dirty="0"/>
              <a:t>自動設備啟動</a:t>
            </a:r>
            <a:r>
              <a:rPr lang="zh-TW" altLang="en-US" sz="2400" dirty="0"/>
              <a:t>：工業設備根據人員接近自動運行。</a:t>
            </a:r>
            <a:endParaRPr lang="en-US" altLang="zh-TW" sz="2400" dirty="0"/>
          </a:p>
          <a:p>
            <a:pPr lvl="1"/>
            <a:r>
              <a:rPr lang="zh-TW" altLang="en-US" sz="2400" b="1" dirty="0"/>
              <a:t>客流量分析</a:t>
            </a:r>
            <a:r>
              <a:rPr lang="zh-TW" altLang="en-US" sz="2400" dirty="0"/>
              <a:t>：零售店用於統計客戶數據。</a:t>
            </a:r>
            <a:endParaRPr lang="en-US" altLang="zh-TW" sz="24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E0AF4B3-F402-430E-BF66-EA3207F3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人體紅外線感測器應用範圍</a:t>
            </a:r>
          </a:p>
        </p:txBody>
      </p:sp>
    </p:spTree>
    <p:extLst>
      <p:ext uri="{BB962C8B-B14F-4D97-AF65-F5344CB8AC3E}">
        <p14:creationId xmlns:p14="http://schemas.microsoft.com/office/powerpoint/2010/main" val="3327932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5C2B5F7-0621-43E9-8906-63653BD64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b="1" dirty="0"/>
              <a:t>優點</a:t>
            </a:r>
            <a:endParaRPr lang="en-US" altLang="zh-TW" b="1" dirty="0"/>
          </a:p>
          <a:p>
            <a:pPr lvl="1"/>
            <a:r>
              <a:rPr lang="zh-TW" altLang="en-US" sz="2400" b="1" dirty="0"/>
              <a:t>低成本</a:t>
            </a:r>
            <a:r>
              <a:rPr lang="zh-TW" altLang="en-US" sz="2400" dirty="0"/>
              <a:t>：價格低廉，適合大規模部署。</a:t>
            </a:r>
            <a:endParaRPr lang="en-US" altLang="zh-TW" sz="2400" dirty="0"/>
          </a:p>
          <a:p>
            <a:pPr lvl="1"/>
            <a:r>
              <a:rPr lang="zh-TW" altLang="en-US" sz="2400" b="1" dirty="0"/>
              <a:t>低功耗</a:t>
            </a:r>
            <a:r>
              <a:rPr lang="zh-TW" altLang="en-US" sz="2400" dirty="0"/>
              <a:t>：耗電量小，適合電池供電的應用。</a:t>
            </a:r>
            <a:endParaRPr lang="en-US" altLang="zh-TW" sz="2400" dirty="0"/>
          </a:p>
          <a:p>
            <a:pPr lvl="1"/>
            <a:r>
              <a:rPr lang="zh-TW" altLang="en-US" sz="2400" b="1" dirty="0"/>
              <a:t>靈敏性強</a:t>
            </a:r>
            <a:r>
              <a:rPr lang="zh-TW" altLang="en-US" sz="2400" dirty="0"/>
              <a:t>：可精準感知人體移動。</a:t>
            </a:r>
            <a:endParaRPr lang="en-US" altLang="zh-TW" sz="2400" dirty="0"/>
          </a:p>
          <a:p>
            <a:r>
              <a:rPr lang="zh-TW" altLang="en-US" b="1" dirty="0"/>
              <a:t>局限性</a:t>
            </a:r>
            <a:endParaRPr lang="en-US" altLang="zh-TW" b="1" dirty="0"/>
          </a:p>
          <a:p>
            <a:pPr lvl="1"/>
            <a:r>
              <a:rPr lang="zh-TW" altLang="en-US" sz="2400" b="1" dirty="0"/>
              <a:t>容易受環境干擾</a:t>
            </a:r>
            <a:r>
              <a:rPr lang="zh-TW" altLang="en-US" sz="2400" dirty="0"/>
              <a:t>：高溫環境或強光下，靈敏度可能降低。</a:t>
            </a:r>
            <a:endParaRPr lang="en-US" altLang="zh-TW" sz="2400" dirty="0"/>
          </a:p>
          <a:p>
            <a:pPr lvl="1"/>
            <a:r>
              <a:rPr lang="zh-TW" altLang="en-US" sz="2400" b="1" dirty="0"/>
              <a:t>不能感應靜止目標</a:t>
            </a:r>
            <a:r>
              <a:rPr lang="zh-TW" altLang="en-US" sz="2400" dirty="0"/>
              <a:t>：需要目標移動才可觸發信號。</a:t>
            </a:r>
            <a:endParaRPr lang="en-US" altLang="zh-TW" sz="2400" dirty="0"/>
          </a:p>
          <a:p>
            <a:pPr lvl="1"/>
            <a:r>
              <a:rPr lang="zh-TW" altLang="en-US" sz="2400" b="1" dirty="0"/>
              <a:t>檢測距離有限</a:t>
            </a:r>
            <a:r>
              <a:rPr lang="zh-TW" altLang="en-US" sz="2400" dirty="0"/>
              <a:t>：通常適用於 </a:t>
            </a:r>
            <a:r>
              <a:rPr lang="en-US" altLang="zh-TW" sz="2400" dirty="0"/>
              <a:t>3-10 </a:t>
            </a:r>
            <a:r>
              <a:rPr lang="zh-TW" altLang="en-US" sz="2400" dirty="0"/>
              <a:t>米內的短距離場景。</a:t>
            </a:r>
            <a:endParaRPr lang="en-US" altLang="zh-TW" sz="2400" dirty="0"/>
          </a:p>
          <a:p>
            <a:pPr lvl="1"/>
            <a:endParaRPr lang="en-US" altLang="zh-TW" sz="24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E0AF4B3-F402-430E-BF66-EA3207F3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優點與局限性</a:t>
            </a:r>
          </a:p>
        </p:txBody>
      </p:sp>
    </p:spTree>
    <p:extLst>
      <p:ext uri="{BB962C8B-B14F-4D97-AF65-F5344CB8AC3E}">
        <p14:creationId xmlns:p14="http://schemas.microsoft.com/office/powerpoint/2010/main" val="121922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5C2B5F7-0621-43E9-8906-63653BD64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b="1" dirty="0"/>
              <a:t>以常見的 </a:t>
            </a:r>
            <a:r>
              <a:rPr lang="en-US" altLang="zh-TW" b="1" dirty="0"/>
              <a:t>HC-SR501 </a:t>
            </a:r>
            <a:r>
              <a:rPr lang="zh-TW" altLang="en-US" b="1" dirty="0"/>
              <a:t>為例：</a:t>
            </a:r>
            <a:endParaRPr lang="en-US" altLang="zh-TW" b="1" dirty="0"/>
          </a:p>
          <a:p>
            <a:pPr lvl="1"/>
            <a:r>
              <a:rPr lang="en-US" altLang="zh-TW" sz="2400" b="1" dirty="0"/>
              <a:t>VCC</a:t>
            </a:r>
            <a:r>
              <a:rPr lang="zh-TW" altLang="en-US" sz="2400" b="1" dirty="0"/>
              <a:t>：電源（</a:t>
            </a:r>
            <a:r>
              <a:rPr lang="en-US" altLang="zh-TW" sz="2400" b="1" dirty="0"/>
              <a:t>3.3V </a:t>
            </a:r>
            <a:r>
              <a:rPr lang="zh-TW" altLang="en-US" sz="2400" b="1" dirty="0"/>
              <a:t>或 </a:t>
            </a:r>
            <a:r>
              <a:rPr lang="en-US" altLang="zh-TW" sz="2400" b="1" dirty="0"/>
              <a:t>5V</a:t>
            </a:r>
            <a:r>
              <a:rPr lang="zh-TW" altLang="en-US" sz="2400" b="1" dirty="0"/>
              <a:t>）</a:t>
            </a:r>
            <a:endParaRPr lang="en-US" altLang="zh-TW" sz="2400" b="1" dirty="0"/>
          </a:p>
          <a:p>
            <a:pPr lvl="1"/>
            <a:r>
              <a:rPr lang="en-US" altLang="zh-TW" sz="2400" b="1" dirty="0"/>
              <a:t>GND</a:t>
            </a:r>
            <a:r>
              <a:rPr lang="zh-TW" altLang="en-US" sz="2400" b="1" dirty="0"/>
              <a:t>：接地</a:t>
            </a:r>
            <a:endParaRPr lang="en-US" altLang="zh-TW" sz="2400" b="1" dirty="0"/>
          </a:p>
          <a:p>
            <a:pPr lvl="1"/>
            <a:r>
              <a:rPr lang="en-US" altLang="zh-TW" sz="2400" b="1" dirty="0"/>
              <a:t>OUT</a:t>
            </a:r>
            <a:r>
              <a:rPr lang="zh-TW" altLang="en-US" sz="2400" b="1" dirty="0"/>
              <a:t>：數位信號輸出</a:t>
            </a:r>
            <a:endParaRPr lang="en-US" altLang="zh-TW" sz="24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E0AF4B3-F402-430E-BF66-EA3207F3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PIR </a:t>
            </a:r>
            <a:r>
              <a:rPr lang="zh-TW" altLang="en-US" dirty="0"/>
              <a:t>感測器接腳定義</a:t>
            </a:r>
          </a:p>
        </p:txBody>
      </p:sp>
      <p:pic>
        <p:nvPicPr>
          <p:cNvPr id="4" name="Picture 2" descr="https://shop.mirotek.com.tw/wp-content/uploads/2022/04/ESP32_10016-01-1024x615.png">
            <a:extLst>
              <a:ext uri="{FF2B5EF4-FFF2-40B4-BE49-F238E27FC236}">
                <a16:creationId xmlns:a16="http://schemas.microsoft.com/office/drawing/2014/main" id="{DD81012E-B9DD-4FA7-A4D5-1204B8F9EB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45"/>
          <a:stretch/>
        </p:blipFill>
        <p:spPr bwMode="auto">
          <a:xfrm>
            <a:off x="6549656" y="440018"/>
            <a:ext cx="5245395" cy="651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74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 dirty="0"/>
              <a:t>EZ Start Kit擴展版</a:t>
            </a:r>
            <a:r>
              <a:rPr lang="en-US" altLang="zh-TW" dirty="0"/>
              <a:t>_</a:t>
            </a:r>
            <a:r>
              <a:rPr lang="zh-TW" altLang="en-US" dirty="0"/>
              <a:t>擴充應用針腳</a:t>
            </a:r>
            <a:r>
              <a:rPr lang="en-US" altLang="zh-TW" dirty="0"/>
              <a:t>_IO8</a:t>
            </a: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l="3780" t="13738" r="4002" b="10400"/>
          <a:stretch/>
        </p:blipFill>
        <p:spPr>
          <a:xfrm>
            <a:off x="609600" y="1340775"/>
            <a:ext cx="10371174" cy="52549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5;g384ee54203b_1_12">
            <a:extLst>
              <a:ext uri="{FF2B5EF4-FFF2-40B4-BE49-F238E27FC236}">
                <a16:creationId xmlns:a16="http://schemas.microsoft.com/office/drawing/2014/main" id="{820DF442-54AC-4FCA-A7EA-24AA66BF766C}"/>
              </a:ext>
            </a:extLst>
          </p:cNvPr>
          <p:cNvSpPr/>
          <p:nvPr/>
        </p:nvSpPr>
        <p:spPr>
          <a:xfrm>
            <a:off x="2476500" y="4930449"/>
            <a:ext cx="238125" cy="69882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 dirty="0"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39562" t="53352" r="14311" b="7100"/>
          <a:stretch/>
        </p:blipFill>
        <p:spPr>
          <a:xfrm>
            <a:off x="284055" y="1340769"/>
            <a:ext cx="4713926" cy="421621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1785917" y="1799281"/>
            <a:ext cx="1056600" cy="375770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06925" y="5185375"/>
            <a:ext cx="4429500" cy="33185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A6D0CF-9041-4299-B200-51B1D42BF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</a:t>
            </a:r>
            <a:r>
              <a:rPr lang="en-US" altLang="zh-TW" dirty="0"/>
              <a:t>PIR </a:t>
            </a:r>
            <a:r>
              <a:rPr lang="zh-TW" altLang="en-US" dirty="0"/>
              <a:t>感測器數值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E6D8B16-F7A4-4ED2-BBDD-DE085736E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6439" y="1175748"/>
            <a:ext cx="3248478" cy="239110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58BE0BD-437C-42F5-B499-0B5CC58BE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91" y="1448312"/>
            <a:ext cx="7065109" cy="330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7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 dirty="0"/>
              <a:t>EZ Start Kit擴展版</a:t>
            </a:r>
            <a:r>
              <a:rPr lang="en-US" altLang="zh-TW" dirty="0"/>
              <a:t>_</a:t>
            </a:r>
            <a:r>
              <a:rPr lang="zh-TW" altLang="en-US" dirty="0"/>
              <a:t>光感測器</a:t>
            </a: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l="3780" t="13738" r="4002" b="10400"/>
          <a:stretch/>
        </p:blipFill>
        <p:spPr>
          <a:xfrm>
            <a:off x="609600" y="1340775"/>
            <a:ext cx="10371174" cy="52549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5;g384ee54203b_1_12">
            <a:extLst>
              <a:ext uri="{FF2B5EF4-FFF2-40B4-BE49-F238E27FC236}">
                <a16:creationId xmlns:a16="http://schemas.microsoft.com/office/drawing/2014/main" id="{820DF442-54AC-4FCA-A7EA-24AA66BF766C}"/>
              </a:ext>
            </a:extLst>
          </p:cNvPr>
          <p:cNvSpPr/>
          <p:nvPr/>
        </p:nvSpPr>
        <p:spPr>
          <a:xfrm>
            <a:off x="8734424" y="3483277"/>
            <a:ext cx="2009775" cy="5772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 dirty="0"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44834" t="48248" r="5337" b="2652"/>
          <a:stretch/>
        </p:blipFill>
        <p:spPr>
          <a:xfrm>
            <a:off x="1314450" y="1312194"/>
            <a:ext cx="5092213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2274570" y="1759524"/>
            <a:ext cx="1056600" cy="375770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2274570" y="5118699"/>
            <a:ext cx="4132093" cy="39853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0EBC071-C103-42D1-A088-1C4C875CD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1D81427-F10A-4AD0-B3F5-35AD8D43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與蜂鳴器連動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5D8A82-A9CC-4193-8B65-9D665E69A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713" y="482166"/>
            <a:ext cx="6235786" cy="567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457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ayas Theme Color">
      <a:dk1>
        <a:srgbClr val="5C5C5C"/>
      </a:dk1>
      <a:lt1>
        <a:sysClr val="window" lastClr="FFFFFF"/>
      </a:lt1>
      <a:dk2>
        <a:srgbClr val="3F3F3F"/>
      </a:dk2>
      <a:lt2>
        <a:srgbClr val="FCFCFC"/>
      </a:lt2>
      <a:accent1>
        <a:srgbClr val="1B6AA3"/>
      </a:accent1>
      <a:accent2>
        <a:srgbClr val="84CBC5"/>
      </a:accent2>
      <a:accent3>
        <a:srgbClr val="F8D35E"/>
      </a:accent3>
      <a:accent4>
        <a:srgbClr val="F47264"/>
      </a:accent4>
      <a:accent5>
        <a:srgbClr val="7CC8EC"/>
      </a:accent5>
      <a:accent6>
        <a:srgbClr val="868AD1"/>
      </a:accent6>
      <a:hlink>
        <a:srgbClr val="0000FF"/>
      </a:hlink>
      <a:folHlink>
        <a:srgbClr val="800080"/>
      </a:folHlink>
    </a:clrScheme>
    <a:fontScheme name="Mayas Fonts">
      <a:majorFont>
        <a:latin typeface="Source Sans Pro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3101</TotalTime>
  <Words>513</Words>
  <Application>Microsoft Office PowerPoint</Application>
  <PresentationFormat>寬螢幕</PresentationFormat>
  <Paragraphs>49</Paragraphs>
  <Slides>14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微軟正黑體</vt:lpstr>
      <vt:lpstr>Arial</vt:lpstr>
      <vt:lpstr>Calibri</vt:lpstr>
      <vt:lpstr>Source Sans Pro Light</vt:lpstr>
      <vt:lpstr>1_Office Theme</vt:lpstr>
      <vt:lpstr>人體紅外線感測器實作</vt:lpstr>
      <vt:lpstr>大綱</vt:lpstr>
      <vt:lpstr>人體紅外線感測器簡介</vt:lpstr>
      <vt:lpstr>人體紅外線感測器工作原理</vt:lpstr>
      <vt:lpstr>人體紅外線感測器應用範圍</vt:lpstr>
      <vt:lpstr>人體紅外線感測器應用範圍</vt:lpstr>
      <vt:lpstr>優點與局限性</vt:lpstr>
      <vt:lpstr>PIR 感測器接腳定義</vt:lpstr>
      <vt:lpstr>EZ Start Kit擴展版_擴充應用針腳_IO8</vt:lpstr>
      <vt:lpstr>EZ Start Kit擴展版 腳位對照圖</vt:lpstr>
      <vt:lpstr>讀取PIR 感測器數值</vt:lpstr>
      <vt:lpstr>EZ Start Kit擴展版_光感測器</vt:lpstr>
      <vt:lpstr>EZ Start Kit擴展版 腳位對照圖</vt:lpstr>
      <vt:lpstr>與蜂鳴器連動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光敏感測器實作</dc:title>
  <dc:creator>user</dc:creator>
  <cp:lastModifiedBy>Roki</cp:lastModifiedBy>
  <cp:revision>44</cp:revision>
  <dcterms:created xsi:type="dcterms:W3CDTF">2024-11-07T07:09:09Z</dcterms:created>
  <dcterms:modified xsi:type="dcterms:W3CDTF">2025-12-04T01:17:15Z</dcterms:modified>
</cp:coreProperties>
</file>